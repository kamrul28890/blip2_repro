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BLEU-4</c:v>
                </c:pt>
              </c:strCache>
            </c:strRef>
          </c:tx>
          <c:spPr>
            <a:solidFill>
              <a:srgbClr val="C9782B"/>
            </a:solidFill>
            <a:ln>
              <a:solidFill>
                <a:srgbClr val="C9782B"/>
              </a:solidFill>
            </a:ln>
          </c:spPr>
          <c:cat>
            <c:strRef>
              <c:f>Sheet1!$A$2:$A$6</c:f>
              <c:strCache>
                <c:ptCount val="5"/>
                <c:pt idx="0">
                  <c:v>10k baseline</c:v>
                </c:pt>
                <c:pt idx="1">
                  <c:v>50k best</c:v>
                </c:pt>
                <c:pt idx="2">
                  <c:v>50k polish</c:v>
                </c:pt>
                <c:pt idx="3">
                  <c:v>100k best</c:v>
                </c:pt>
                <c:pt idx="4">
                  <c:v>100k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1.45</c:v>
                </c:pt>
                <c:pt idx="1">
                  <c:v>11.13</c:v>
                </c:pt>
                <c:pt idx="2">
                  <c:v>10.49</c:v>
                </c:pt>
                <c:pt idx="3">
                  <c:v>8.57</c:v>
                </c:pt>
                <c:pt idx="4">
                  <c:v>6.61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CIDEr</c:v>
                </c:pt>
              </c:strCache>
            </c:strRef>
          </c:tx>
          <c:spPr>
            <a:solidFill>
              <a:srgbClr val="224A59"/>
            </a:solidFill>
            <a:ln>
              <a:solidFill>
                <a:srgbClr val="224A59"/>
              </a:solidFill>
            </a:ln>
          </c:spPr>
          <c:cat>
            <c:strRef>
              <c:f>Sheet1!$A$2:$A$6</c:f>
              <c:strCache>
                <c:ptCount val="5"/>
                <c:pt idx="0">
                  <c:v>10k baseline</c:v>
                </c:pt>
                <c:pt idx="1">
                  <c:v>50k best</c:v>
                </c:pt>
                <c:pt idx="2">
                  <c:v>50k polish</c:v>
                </c:pt>
                <c:pt idx="3">
                  <c:v>100k best</c:v>
                </c:pt>
                <c:pt idx="4">
                  <c:v>100k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3.03</c:v>
                </c:pt>
                <c:pt idx="1">
                  <c:v>37.57</c:v>
                </c:pt>
                <c:pt idx="2">
                  <c:v>37.14</c:v>
                </c:pt>
                <c:pt idx="3">
                  <c:v>25.34</c:v>
                </c:pt>
                <c:pt idx="4">
                  <c:v>18.36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0.0"/>
        </c:scaling>
        <c:delete val="0"/>
        <c:axPos val="l"/>
        <c:majorGridlines>
          <c:spPr>
            <a:ln>
              <a:solidFill>
                <a:srgbClr val="C9D2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captions</c:v>
                </c:pt>
              </c:strCache>
            </c:strRef>
          </c:tx>
          <c:spPr>
            <a:solidFill>
              <a:srgbClr val="2E6B57"/>
            </a:solidFill>
            <a:ln>
              <a:solidFill>
                <a:srgbClr val="2E6B57"/>
              </a:solidFill>
            </a:ln>
          </c:spPr>
          <c:cat>
            <c:strRef>
              <c:f>Sheet1!$A$2:$A$6</c:f>
              <c:strCache>
                <c:ptCount val="5"/>
                <c:pt idx="0">
                  <c:v>10k baseline</c:v>
                </c:pt>
                <c:pt idx="1">
                  <c:v>50k best</c:v>
                </c:pt>
                <c:pt idx="2">
                  <c:v>50k polish</c:v>
                </c:pt>
                <c:pt idx="3">
                  <c:v>100k best</c:v>
                </c:pt>
                <c:pt idx="4">
                  <c:v>100k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</c:v>
                </c:pt>
                <c:pt idx="1">
                  <c:v>563</c:v>
                </c:pt>
                <c:pt idx="2">
                  <c:v>607</c:v>
                </c:pt>
                <c:pt idx="3">
                  <c:v>677</c:v>
                </c:pt>
                <c:pt idx="4">
                  <c:v>734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0.0"/>
          <c:min val="0.0"/>
        </c:scaling>
        <c:delete val="0"/>
        <c:axPos val="l"/>
        <c:majorGridlines>
          <c:spPr>
            <a:ln>
              <a:solidFill>
                <a:srgbClr val="C9D2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Paper: ViT-g OPT-2.7B</c:v>
                </c:pt>
              </c:strCache>
            </c:strRef>
          </c:tx>
          <c:spPr>
            <a:solidFill>
              <a:srgbClr val="224A59"/>
            </a:solidFill>
            <a:ln>
              <a:solidFill>
                <a:srgbClr val="224A59"/>
              </a:solidFill>
            </a:ln>
          </c:spPr>
          <c:cat>
            <c:strRef>
              <c:f>Sheet1!$A$2:$A$3</c:f>
              <c:strCache>
                <c:ptCount val="2"/>
                <c:pt idx="0">
                  <c:v>BLEU-4</c:v>
                </c:pt>
                <c:pt idx="1">
                  <c:v>CIDEr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43.7</c:v>
                </c:pt>
                <c:pt idx="1">
                  <c:v>145.8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best: 50k office epoch 3</c:v>
                </c:pt>
              </c:strCache>
            </c:strRef>
          </c:tx>
          <c:spPr>
            <a:solidFill>
              <a:srgbClr val="C9782B"/>
            </a:solidFill>
            <a:ln>
              <a:solidFill>
                <a:srgbClr val="C9782B"/>
              </a:solidFill>
            </a:ln>
          </c:spPr>
          <c:cat>
            <c:strRef>
              <c:f>Sheet1!$A$2:$A$3</c:f>
              <c:strCache>
                <c:ptCount val="2"/>
                <c:pt idx="0">
                  <c:v>BLEU-4</c:v>
                </c:pt>
                <c:pt idx="1">
                  <c:v>CIDEr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11.13</c:v>
                </c:pt>
                <c:pt idx="1">
                  <c:v>37.57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C9D2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Three Papers, One Multimodal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BLIP-2 (2023), LLaVA (2023), VisionLLM v2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914400"/>
            <a:ext cx="1874519" cy="256032"/>
          </a:xfrm>
          <a:prstGeom prst="roundRect">
            <a:avLst/>
          </a:prstGeom>
          <a:solidFill>
            <a:srgbClr val="DC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3474720" cy="24231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234440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BLIP-2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618488"/>
            <a:ext cx="3218688" cy="1856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Freezes the image encoder and LLM, then trains a lightweight Q-Former bridge.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Main goal: make strong frozen backbones talk to each other efficiently.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Best fit when we care about architecture and staged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914400"/>
            <a:ext cx="1874519" cy="256032"/>
          </a:xfrm>
          <a:prstGeom prst="roundRect">
            <a:avLst/>
          </a:prstGeom>
          <a:solidFill>
            <a:srgbClr val="F5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9782B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143000"/>
            <a:ext cx="3474720" cy="24231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234440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LLaVA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618488"/>
            <a:ext cx="3218688" cy="1856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Connects vision features to a Vicuna-like LLM, then instruction-tunes on GPT-generated visual dialogs.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Main goal: multimodal assistant behavior and chat-style interaction.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Best fit when we care about usability and instruction following.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914400"/>
            <a:ext cx="1874519" cy="256032"/>
          </a:xfrm>
          <a:prstGeom prst="roundRect">
            <a:avLst/>
          </a:prstGeom>
          <a:solidFill>
            <a:srgbClr val="DD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6B57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143000"/>
            <a:ext cx="3456432" cy="24231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34440"/>
            <a:ext cx="31638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VisionLLM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618488"/>
            <a:ext cx="3200400" cy="1856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Uses an MLLM plus a super-link mechanism to drive multiple task-specific decoders.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Main goal: one system for perception, understanding, generation, and editing.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Best fit when we care about breadth across many vision-language tasks.</a:t>
            </a:r>
          </a:p>
        </p:txBody>
      </p:sp>
      <p:sp>
        <p:nvSpPr>
          <p:cNvPr id="19" name="Chevron 18"/>
          <p:cNvSpPr/>
          <p:nvPr/>
        </p:nvSpPr>
        <p:spPr>
          <a:xfrm>
            <a:off x="3913632" y="2011680"/>
            <a:ext cx="384048" cy="320040"/>
          </a:xfrm>
          <a:prstGeom prst="chevron">
            <a:avLst/>
          </a:prstGeom>
          <a:solidFill>
            <a:srgbClr val="6A8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626096" y="2011680"/>
            <a:ext cx="384048" cy="320040"/>
          </a:xfrm>
          <a:prstGeom prst="chevron">
            <a:avLst/>
          </a:prstGeom>
          <a:solidFill>
            <a:srgbClr val="C97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10899648" cy="169164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77640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Common Thread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361688"/>
            <a:ext cx="10643616" cy="11247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All three papers start from the same big question: how do we turn strong vision and language backbones into practical multimodal systems?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progression is bridge learning -&gt; instruction-following assistants -&gt; multi-output generalist systems.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As the systems become broader and more capable, they also become harder to reproduce on student-scale hardware.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How The Papers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 lens: paper critique in paper/term_paper.tex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932688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834640"/>
                <a:gridCol w="2788920"/>
                <a:gridCol w="310896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BLIP-2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LLaVA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VisionLLM v2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Where alignment happens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Q-Former bridge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Projection + instruction tuning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MLLM backbone + super link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Main supervision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Image-text pretraining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GPT-generated multimodal instructions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Hundreds of task datasets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Typical output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Text answers / captions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Chat-style text responses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Text + boxes + pose + generated images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Best at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Modular transfer from frozen backbones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Assistant behavior and interactive reasoning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Broad cross-task generality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Reproducibility on class hardware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Best of the three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Possible but still costly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Least realistic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864608"/>
            <a:ext cx="10469880" cy="1170432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4956048"/>
            <a:ext cx="101772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Connection In One Sentence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5340096"/>
            <a:ext cx="10213848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BLIP-2 focuses on a clean bridge, LLaVA focuses on instruction-following behavior, and VisionLLM v2 focuses on widening the output space of multimodal models.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That makes them easy to compare in proper order: connection mechanism first, training signal second, and task scope third.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Why BLIP-2 Was The Right Paper To Reproduce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paper/mkamrul_project_answers.md, paper/term_paper.tex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6446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417320"/>
                <a:gridCol w="1417320"/>
                <a:gridCol w="1645920"/>
              </a:tblGrid>
              <a:tr h="7239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BLIP-2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LLaVA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VisionLLM v2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Architectural clarity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Public implementation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Downscales meaningfully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Weak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Single-GPU educational value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Weak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Risk of project collapse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Lowest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Highest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078992"/>
            <a:ext cx="4251960" cy="1993392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1504" y="1170432"/>
            <a:ext cx="3959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Selection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1554480"/>
            <a:ext cx="3995928" cy="14264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BLIP-2 still makes sense after aggressive scaling because the trainable part is the bridge, not the entire model.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official LAVIS code path exists and can be audited, patched, and reused.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 stays non-trivial: three stages, custom evaluation, and real systems work were still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310128"/>
            <a:ext cx="4251960" cy="178308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3401568"/>
            <a:ext cx="3959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4E45"/>
                </a:solidFill>
                <a:latin typeface="Bahnschrift"/>
              </a:defRPr>
            </a:pPr>
            <a:r>
              <a:t>Project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3216" y="3785616"/>
            <a:ext cx="3995928" cy="121615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Target: methodological fidelity under hardware limits, not a literal paper-scale replication.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Question: can we reproduce the pipeline even if we cannot reproduce the published score?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BLIP-2 In A Nutshell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BLIP-2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932688"/>
            <a:ext cx="1874519" cy="256032"/>
          </a:xfrm>
          <a:prstGeom prst="roundRect">
            <a:avLst/>
          </a:prstGeom>
          <a:solidFill>
            <a:srgbClr val="DC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Frozen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1828800" cy="1170432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280160"/>
            <a:ext cx="15361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664208"/>
            <a:ext cx="1572768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Raw image enters a pretrained vision encoder.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188720"/>
            <a:ext cx="1828800" cy="117043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280160"/>
            <a:ext cx="15361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Image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1664208"/>
            <a:ext cx="1572768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A frozen visual backbone produces image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932688"/>
            <a:ext cx="1874519" cy="256032"/>
          </a:xfrm>
          <a:prstGeom prst="roundRect">
            <a:avLst/>
          </a:prstGeom>
          <a:solidFill>
            <a:srgbClr val="F5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9782B"/>
                </a:solidFill>
                <a:latin typeface="Calibri"/>
              </a:defRPr>
            </a:pPr>
            <a:r>
              <a:t>Trainable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188720"/>
            <a:ext cx="1874519" cy="1170432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80160"/>
            <a:ext cx="158191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Q-Former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1664208"/>
            <a:ext cx="1618487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32 learned queries pull language-relevant visual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4848" y="1188720"/>
            <a:ext cx="1508760" cy="1170432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1280160"/>
            <a:ext cx="1216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1664208"/>
            <a:ext cx="1252728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Maps query outputs into the language model embedding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188720"/>
            <a:ext cx="1874519" cy="117043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0224" y="1280160"/>
            <a:ext cx="158191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Frozen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1664208"/>
            <a:ext cx="1618487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The language model stays frozen and generates text from bridged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8752" y="1188720"/>
            <a:ext cx="914400" cy="1170432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35056" y="1280160"/>
            <a:ext cx="621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6768" y="1664208"/>
            <a:ext cx="658368" cy="60350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Caption or answer</a:t>
            </a:r>
          </a:p>
        </p:txBody>
      </p:sp>
      <p:sp>
        <p:nvSpPr>
          <p:cNvPr id="27" name="Chevron 26"/>
          <p:cNvSpPr/>
          <p:nvPr/>
        </p:nvSpPr>
        <p:spPr>
          <a:xfrm>
            <a:off x="2304288" y="1581912"/>
            <a:ext cx="256032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4315968" y="1581912"/>
            <a:ext cx="256032" cy="201168"/>
          </a:xfrm>
          <a:prstGeom prst="chevron">
            <a:avLst/>
          </a:prstGeom>
          <a:solidFill>
            <a:srgbClr val="C97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6492240" y="1581912"/>
            <a:ext cx="256032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8247888" y="1581912"/>
            <a:ext cx="256032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10314432" y="1581912"/>
            <a:ext cx="201168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2834640"/>
            <a:ext cx="5212080" cy="2359152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2926080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Close Domain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3310128"/>
            <a:ext cx="4956048" cy="179222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BLIP (2022): unified vision-language pretraining for understanding and generation.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Flamingo (2022): large multimodal LM that interleaves visual tokens with language modeling at scale.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BLIP-2 sits between them: it keeps powerful backbones frozen and concentrates learning in a compact bridge.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2834640"/>
            <a:ext cx="5303520" cy="235915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2926080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What Makes BLIP-2 Different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3310128"/>
            <a:ext cx="5047488" cy="179222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 makes the cross-modal interface explicit through Q-Former rather than fully tuning the whole stack.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That gives it a cleaner experimental story: if results move, the bridge is the main thing changing.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This is exactly why it became the best reproduction target for the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BLIP-2 Method, Strengths,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BLIP-2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3566160" cy="144475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051560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Stage 1: Representation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35608"/>
            <a:ext cx="3310128" cy="87782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Learns language-relevant visual queries from paired image-text data.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Uses image-text contrastive, matching, and language-modeling style losses.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60120"/>
            <a:ext cx="3566160" cy="1444752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051560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Stage 2: Generative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435608"/>
            <a:ext cx="3310128" cy="87782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Aligns the learned query outputs to the frozen LLM for text generation.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Turns the bridge from a representation learner into a generation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960120"/>
            <a:ext cx="3566160" cy="1444752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051560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Task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435608"/>
            <a:ext cx="3310128" cy="87782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Adapts the aligned model to captioning, VQA, retrieval, and other downstream tasks.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This is where the paper reports strong captioning and zero-shot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5166360" cy="2212848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880360"/>
            <a:ext cx="4873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Where BLIP-2 Is Strong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264408"/>
            <a:ext cx="4910328" cy="16459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Strong conceptual modularity: frozen backbones + small bridge.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Good transfer story across captioning, retrieval, and VQA.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Much easier to reason about than a fully coupled multimodal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788920"/>
            <a:ext cx="5166360" cy="2212848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4873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4E45"/>
                </a:solidFill>
                <a:latin typeface="Bahnschrift"/>
              </a:defRPr>
            </a:pPr>
            <a:r>
              <a:t>Main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64408"/>
            <a:ext cx="4910328" cy="16459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paper's 'efficient' setup is still large: 129M pretraining images and large GPU budgets.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Best published results use much bigger backbones than a student desktop can fit.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So the idea is downscalable, but the top performance is still scale-sensitive.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LLaVA In A Nutshell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LLaVA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32688"/>
            <a:ext cx="2194560" cy="256032"/>
          </a:xfrm>
          <a:prstGeom prst="roundRect">
            <a:avLst/>
          </a:prstGeom>
          <a:solidFill>
            <a:srgbClr val="F5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9782B"/>
                </a:solidFill>
                <a:latin typeface="Calibri"/>
              </a:defRPr>
            </a:pPr>
            <a:r>
              <a:t>Instruction-Tuned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07008"/>
            <a:ext cx="1645920" cy="1078992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298448"/>
            <a:ext cx="1353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682496"/>
            <a:ext cx="1389888" cy="5120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User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207008"/>
            <a:ext cx="1965960" cy="107899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298448"/>
            <a:ext cx="1673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Vision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1682496"/>
            <a:ext cx="1709928" cy="5120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Turns the image into visual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207008"/>
            <a:ext cx="1417320" cy="1078992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298448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Projector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682496"/>
            <a:ext cx="1161288" cy="5120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Maps vision features into the LLM input 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1207008"/>
            <a:ext cx="1920240" cy="1078992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1298448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Vicuna-like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682496"/>
            <a:ext cx="1664208" cy="5120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Generates open-ended chat responses.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207008"/>
            <a:ext cx="2057400" cy="1078992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298448"/>
            <a:ext cx="1764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Instruction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682496"/>
            <a:ext cx="1801368" cy="512064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GPT-4 is used to synthesize multimodal training conversations.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633472"/>
            <a:ext cx="1920240" cy="91440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7249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3108960"/>
            <a:ext cx="1664208" cy="3474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Chat answer, explanation, reasoning</a:t>
            </a:r>
          </a:p>
        </p:txBody>
      </p:sp>
      <p:sp>
        <p:nvSpPr>
          <p:cNvPr id="26" name="Chevron 25"/>
          <p:cNvSpPr/>
          <p:nvPr/>
        </p:nvSpPr>
        <p:spPr>
          <a:xfrm>
            <a:off x="2359152" y="1527048"/>
            <a:ext cx="256032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4626864" y="1527048"/>
            <a:ext cx="256032" cy="201168"/>
          </a:xfrm>
          <a:prstGeom prst="chevron">
            <a:avLst/>
          </a:prstGeom>
          <a:solidFill>
            <a:srgbClr val="C97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6345936" y="1527048"/>
            <a:ext cx="256032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3703320"/>
            <a:ext cx="5257800" cy="169164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794760"/>
            <a:ext cx="49651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What It Is Really Trying To 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178808"/>
            <a:ext cx="5001768" cy="11247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LLaVA is less about a new multi-stage pretraining recipe and more about turning a vision-language model into a usable assistant.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Its key training move is visual instruction tuning, not just image-text alignment.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703320"/>
            <a:ext cx="5212080" cy="169164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794760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How It Differs From BLIP-2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178808"/>
            <a:ext cx="4956048" cy="11247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BLIP-2 asks whether a small bridge can unlock frozen backbones.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LLaVA asks whether instruction data can make a multimodal model behave like a chat assistant.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LLaVA Method, Strengths,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LLaVA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3547872" cy="214884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051560"/>
            <a:ext cx="3255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35608"/>
            <a:ext cx="3291840" cy="15819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Stage 1 aligns visual features to the LLM.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Stage 2 instruction-tunes the system on GPT-generated multimodal dialog data.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Benchmarking emphasizes chat quality and instruction following.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60120"/>
            <a:ext cx="3547872" cy="214884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051560"/>
            <a:ext cx="3255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Where It Is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435608"/>
            <a:ext cx="3291840" cy="15819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Explaining images in natural language.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Interactive question answering and assistant-like responses.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Strong influence on the open multimodal chat ecosystem.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960120"/>
            <a:ext cx="3547872" cy="214884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5" y="1051560"/>
            <a:ext cx="3255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4E45"/>
                </a:solidFill>
                <a:latin typeface="Bahnschrift"/>
              </a:defRPr>
            </a:pPr>
            <a:r>
              <a:t>Main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7" y="1435608"/>
            <a:ext cx="3291840" cy="15819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Still depends on a non-trivial multi-GPU budget for faithful reproduction.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Behavior is strongly tied to the quality of the generated instruction data pipeline.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Outputs are mostly text, so it is not a dense vision generalist.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20440"/>
            <a:ext cx="10744200" cy="1572768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611880"/>
            <a:ext cx="10451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Best Way To Position LLaVA In This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95928"/>
            <a:ext cx="10488168" cy="10058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LLaVA is the bridge between pure multimodal alignment and practical multimodal assistants.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 is easier to explain to users than BLIP-2, but less attractive for this particular reproduction because the main scientific interest here was staged bridge learning under hardware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VisionLLM v2 In A Nutshell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VisionLLM v2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554480" cy="109728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80160"/>
            <a:ext cx="1261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Image +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64208"/>
            <a:ext cx="1298448" cy="53035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The user asks for a task in natural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005840"/>
            <a:ext cx="2788920" cy="146304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1097280"/>
            <a:ext cx="2496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Central MLLM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481328"/>
            <a:ext cx="2532888" cy="8961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 shared multimodal backbone reasons over image and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1005840"/>
            <a:ext cx="1920240" cy="146304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6" y="1097280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Super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1481328"/>
            <a:ext cx="1664208" cy="8961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Routes task information and gradients between the MLLM and downstream decoders.</a:t>
            </a:r>
          </a:p>
        </p:txBody>
      </p:sp>
      <p:sp>
        <p:nvSpPr>
          <p:cNvPr id="16" name="Chevron 15"/>
          <p:cNvSpPr/>
          <p:nvPr/>
        </p:nvSpPr>
        <p:spPr>
          <a:xfrm>
            <a:off x="2194560" y="1536192"/>
            <a:ext cx="237744" cy="201168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340096" y="1536192"/>
            <a:ext cx="237744" cy="201168"/>
          </a:xfrm>
          <a:prstGeom prst="chevron">
            <a:avLst/>
          </a:prstGeom>
          <a:solidFill>
            <a:srgbClr val="C97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896112"/>
            <a:ext cx="1719072" cy="91440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987552"/>
            <a:ext cx="1426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5" y="1371600"/>
            <a:ext cx="1463040" cy="3474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1C2830"/>
                </a:solidFill>
                <a:latin typeface="Calibri"/>
              </a:defRPr>
            </a:pPr>
            <a:r>
              <a:t>Boxes / localization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896112"/>
            <a:ext cx="1719072" cy="91440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987552"/>
            <a:ext cx="1426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1371600"/>
            <a:ext cx="1463040" cy="3474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1C2830"/>
                </a:solidFill>
                <a:latin typeface="Calibri"/>
              </a:defRPr>
            </a:pPr>
            <a:r>
              <a:t>Keypoints /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938528"/>
            <a:ext cx="1719072" cy="91440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3" y="2029968"/>
            <a:ext cx="1426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5" y="2414016"/>
            <a:ext cx="1463040" cy="3474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1C2830"/>
                </a:solidFill>
                <a:latin typeface="Calibri"/>
              </a:defRPr>
            </a:pPr>
            <a:r>
              <a:t>Image creation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938528"/>
            <a:ext cx="1719072" cy="91440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2029968"/>
            <a:ext cx="1426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Editing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414016"/>
            <a:ext cx="1463040" cy="3474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1C2830"/>
                </a:solidFill>
                <a:latin typeface="Calibri"/>
              </a:defRPr>
            </a:pPr>
            <a:r>
              <a:t>Image manipulation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3337560"/>
            <a:ext cx="5212080" cy="182880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429000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What It Is Really Trying To Solve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3813048"/>
            <a:ext cx="4956048" cy="12618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Most MLLMs only answer in text. VisionLLM v2 tries to break that limit by supporting structured and visual outputs too.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 wants one model family to cover many task types that are usually handled by separate systems.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337560"/>
            <a:ext cx="5212080" cy="182880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429000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How It Differs From Tool-Using MLLMs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813048"/>
            <a:ext cx="4956048" cy="12618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Tool-using MLLMs often pass text to external tools.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VisionLLM v2 tries to connect the decoders more deeply so task information and gradients can move end to 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VisionLLM v2 Method, Strengths,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VisionLLM v2 paper, 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3520440" cy="237744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005840"/>
            <a:ext cx="3227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89888"/>
            <a:ext cx="3264408" cy="18105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Collects and harmonizes data from hundreds of vision and vision-language tasks.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Joint-trains a shared MLLM with multiple task-specific decoders.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Uses prompts to invoke different task behaviors through one shared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14400"/>
            <a:ext cx="3520440" cy="237744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005840"/>
            <a:ext cx="3227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Where It Is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389888"/>
            <a:ext cx="3264408" cy="18105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Unifying perception, understanding, and generation.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Supporting dense outputs such as localization and pose, not only text.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Making the strongest 'generalist' claim among the three papers.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914400"/>
            <a:ext cx="3520440" cy="237744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5" y="1005840"/>
            <a:ext cx="3227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4E45"/>
                </a:solidFill>
                <a:latin typeface="Bahnschrift"/>
              </a:defRPr>
            </a:pPr>
            <a:r>
              <a:t>Main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7" y="1389888"/>
            <a:ext cx="3264408" cy="18105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Highest engineering complexity by far: many decoders, many datasets, many interfaces.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Hard to reproduce, hard to ablate, and hard to shrink cleanly for a class project.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Its ambition is impressive, but that same ambition is the reproducibility barrier.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85032"/>
            <a:ext cx="10744200" cy="141732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776472"/>
            <a:ext cx="10451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Best Way To Position VisionLLM v2 In This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60520"/>
            <a:ext cx="10488168" cy="8503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It is the endpoint of the progression: the paper that broadens multimodal systems from text-answering models into multi-output vision generalists.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That is why it is also the least realistic reproduction target under local student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Main Takeaway From The Three-Paper Critique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Source: paper/term_paper.tex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Chevron 6"/>
          <p:cNvSpPr/>
          <p:nvPr/>
        </p:nvSpPr>
        <p:spPr>
          <a:xfrm>
            <a:off x="658368" y="1188720"/>
            <a:ext cx="3456432" cy="1645920"/>
          </a:xfrm>
          <a:prstGeom prst="chevron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Bahnschrift"/>
              </a:defRPr>
            </a:pPr>
            <a:r>
              <a:t>BLIP-2</a:t>
            </a:r>
          </a:p>
          <a:p>
            <a:pPr algn="ctr">
              <a:defRPr sz="1200">
                <a:solidFill>
                  <a:srgbClr val="F4F8FA"/>
                </a:solidFill>
                <a:latin typeface="Calibri"/>
              </a:defRPr>
            </a:pPr>
            <a:r>
              <a:t>Ask whether a small trainable bridge can unlock frozen vision and language backbones.</a:t>
            </a:r>
          </a:p>
        </p:txBody>
      </p:sp>
      <p:sp>
        <p:nvSpPr>
          <p:cNvPr id="8" name="Chevron 7"/>
          <p:cNvSpPr/>
          <p:nvPr/>
        </p:nvSpPr>
        <p:spPr>
          <a:xfrm>
            <a:off x="4187952" y="1188720"/>
            <a:ext cx="3456432" cy="1645920"/>
          </a:xfrm>
          <a:prstGeom prst="chevron">
            <a:avLst/>
          </a:prstGeom>
          <a:solidFill>
            <a:srgbClr val="C97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Bahnschrift"/>
              </a:defRPr>
            </a:pPr>
            <a:r>
              <a:t>LLaVA</a:t>
            </a:r>
          </a:p>
          <a:p>
            <a:pPr algn="ctr">
              <a:defRPr sz="1200">
                <a:solidFill>
                  <a:srgbClr val="F4F8FA"/>
                </a:solidFill>
                <a:latin typeface="Calibri"/>
              </a:defRPr>
            </a:pPr>
            <a:r>
              <a:t>Ask whether visual instruction tuning can make the model behave like a helpful assistant.</a:t>
            </a:r>
          </a:p>
        </p:txBody>
      </p:sp>
      <p:sp>
        <p:nvSpPr>
          <p:cNvPr id="9" name="Chevron 8"/>
          <p:cNvSpPr/>
          <p:nvPr/>
        </p:nvSpPr>
        <p:spPr>
          <a:xfrm>
            <a:off x="7717536" y="1188720"/>
            <a:ext cx="3520440" cy="1645920"/>
          </a:xfrm>
          <a:prstGeom prst="chevron">
            <a:avLst/>
          </a:prstGeom>
          <a:solidFill>
            <a:srgbClr val="2E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Bahnschrift"/>
              </a:defRPr>
            </a:pPr>
            <a:r>
              <a:t>VisionLLM v2</a:t>
            </a:r>
          </a:p>
          <a:p>
            <a:pPr algn="ctr">
              <a:defRPr sz="1200">
                <a:solidFill>
                  <a:srgbClr val="F4F8FA"/>
                </a:solidFill>
                <a:latin typeface="Calibri"/>
              </a:defRPr>
            </a:pPr>
            <a:r>
              <a:t>Ask whether one multimodal system can cover many output spaces and task families.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10561320" cy="182880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520440"/>
            <a:ext cx="10268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Overall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904488"/>
            <a:ext cx="10305288" cy="12618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Capability rises from modular bridge learning to assistant behavior to full multimodal generality.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At the same time, the data burden, engineering burden, and compute burden rise sharply.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That tradeoff is the key reason BLIP-2 became the implementation target and the lens for the reproduction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Our Reproduction Target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docs/blip2/README.md, metrics/blip2/env_snapshot.json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005840"/>
            <a:ext cx="4983480" cy="228600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097280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Target Of Reproduction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81328"/>
            <a:ext cx="4727448" cy="17190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Run all three BLIP-2 stages end to end in a local environment.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Produce checkpoints, caption outputs, and reproducible evaluation artifacts.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Study the gap between pipeline-level success and paper-level performance.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987552"/>
          <a:ext cx="52303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264408"/>
              </a:tblGrid>
              <a:tr h="41719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setup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Windows 11 Education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3.10.11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PyTorch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2.4.1 + cu121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1x RTX 3070 8GB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Codebase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Official LAVIS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Backbones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CLIP ViT-L + OPT-350M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Image size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3232" y="3794760"/>
            <a:ext cx="10469880" cy="155448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886200"/>
            <a:ext cx="101772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Important Scope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270248"/>
            <a:ext cx="10213848" cy="98755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This was never a full paper-scale replication: the published BLIP-2 setup uses much larger backbones, much larger pretraining data, and much larger compute.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correct question was whether the method still behaves coherently after aggressive downscaling.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How We Implemented The Local BLIP-2 Reproduction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term_paper.tex, experiment_ledger.md, report_metrics_snapshot.json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32688"/>
            <a:ext cx="3566160" cy="141732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024128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08176"/>
            <a:ext cx="3310128" cy="8503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Image-text representation learning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Local schedules: 1 epoch, 3 epochs, or 10 epochs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32688"/>
            <a:ext cx="3566160" cy="141732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024128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9782B"/>
                </a:solidFill>
                <a:latin typeface="Bahnschrift"/>
              </a:defRPr>
            </a:pPr>
            <a: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408176"/>
            <a:ext cx="3310128" cy="8503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Generative alignment to OPT-350M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Local schedules: 1 epoch, 3 epochs, or 10 epochs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932688"/>
            <a:ext cx="3566160" cy="141732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024128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Caption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408176"/>
            <a:ext cx="3310128" cy="8503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COCO caption adaptation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Local schedules: 1, 5, or 15 epochs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" y="2743200"/>
          <a:ext cx="109727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49039"/>
                <a:gridCol w="5166360"/>
              </a:tblGrid>
              <a:tr h="3886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setup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setup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Vision backbone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ViT-g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CLIP ViT-L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Language model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OPT-2.7B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OPT-350M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Data scale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Large multimodal mixture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Reduced COCO Karpathy subsets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Training budget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250k + 80k steps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1/1/1 to 10/10/15 schedules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Paper COCO caption table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Offline subset-matched validation metrics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Engineering Work That Was Actually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docs/blip2/failures_and_fixes.md, docs/blip2/README.md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2816352" cy="15087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14300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Data path fixes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52704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Absolute local annotation and image paths replaced broken default cache resolution.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051560"/>
            <a:ext cx="2816352" cy="150876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114300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Single-GPU 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152704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Patched distributed assumptions so stage 1 and runners could work in a non-distributed local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051560"/>
            <a:ext cx="2816352" cy="15087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14300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Caption dataset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3" y="152704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Stopped caption data image_id lists from being treated like retrieval tensors.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71800"/>
            <a:ext cx="2816352" cy="150876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6324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782B"/>
                </a:solidFill>
                <a:latin typeface="Bahnschrift"/>
              </a:defRPr>
            </a:pPr>
            <a:r>
              <a:t>OPT-350M bridge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44728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Projected into OPT's actual input embedding dimension so stage 2 could train correctly.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2971800"/>
            <a:ext cx="2816352" cy="150876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306324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6B57"/>
                </a:solidFill>
                <a:latin typeface="Bahnschrift"/>
              </a:defRPr>
            </a:pPr>
            <a:r>
              <a:t>Evaluation rebuild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344728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Saved predictions during training, then scored them offline against subset-matched COCO ground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2971800"/>
            <a:ext cx="2816352" cy="150876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3063240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A4E45"/>
                </a:solidFill>
                <a:latin typeface="Bahnschrift"/>
              </a:defRPr>
            </a:pPr>
            <a:r>
              <a:t>Windows workarounds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3" y="3447288"/>
            <a:ext cx="2560320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Handled METEOR instability, Java path quirks, optional spacy loading, and dependency drift.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919472"/>
            <a:ext cx="10378440" cy="77724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010912"/>
            <a:ext cx="100858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Why This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394960"/>
            <a:ext cx="10122408" cy="2103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The project was not just a model run. It was a systems engineering effort to make a research codebase operate reproducibly on a single Windows workstation.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Experiment Family And Local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report_metrics_snapshot.json, 100k evaluation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005840"/>
          <a:ext cx="64008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69480" y="1005840"/>
          <a:ext cx="41605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5472" y="3383280"/>
          <a:ext cx="422452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960120"/>
                <a:gridCol w="758952"/>
                <a:gridCol w="749808"/>
                <a:gridCol w="548640"/>
              </a:tblGrid>
              <a:tr h="3276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Schedule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BLEU-4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CIDEr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Unique</a:t>
                      </a:r>
                    </a:p>
                  </a:txBody>
                  <a:tcPr marL="50800" marR="50800" marT="25400" marB="25400" anchor="ctr">
                    <a:solidFill>
                      <a:srgbClr val="224A5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10k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1/1/1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1.45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3.03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50k best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3/3/5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11.13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37.57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563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50k polish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caption only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10.49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37.14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607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100k best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10/10/15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8.57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25.34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677</a:t>
                      </a:r>
                    </a:p>
                  </a:txBody>
                  <a:tcPr marL="50800" marR="50800" marT="25400" marB="25400" anchor="ctr">
                    <a:solidFill>
                      <a:srgbClr val="DCEAF1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100k final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10/10/15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6.61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18.36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830"/>
                          </a:solidFill>
                          <a:latin typeface="Calibri"/>
                        </a:defRPr>
                      </a:pPr>
                      <a:r>
                        <a:t>734</a:t>
                      </a:r>
                    </a:p>
                  </a:txBody>
                  <a:tcPr marL="50800" marR="50800" marT="25400" marB="25400" anchor="ctr">
                    <a:solidFill>
                      <a:srgbClr val="FEFE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Compared With The BLIP-2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BLIP-2 paper, term_paper.tex, report_metrics_snapshot.json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078992"/>
          <a:ext cx="5532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188720"/>
            <a:ext cx="2011680" cy="914400"/>
          </a:xfrm>
          <a:prstGeom prst="roundRect">
            <a:avLst/>
          </a:prstGeom>
          <a:solidFill>
            <a:srgbClr val="DC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646E"/>
                </a:solidFill>
                <a:latin typeface="Calibri"/>
              </a:defRPr>
            </a:pPr>
            <a:r>
              <a:t>Paper BLEU-4</a:t>
            </a:r>
          </a:p>
          <a:p>
            <a:pPr algn="ctr">
              <a:defRPr sz="2200" b="1">
                <a:solidFill>
                  <a:srgbClr val="224A59"/>
                </a:solidFill>
                <a:latin typeface="Bahnschrift"/>
              </a:defRPr>
            </a:pPr>
            <a:r>
              <a:t>43.7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188720"/>
            <a:ext cx="2011680" cy="914400"/>
          </a:xfrm>
          <a:prstGeom prst="roundRect">
            <a:avLst/>
          </a:prstGeom>
          <a:solidFill>
            <a:srgbClr val="F5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646E"/>
                </a:solidFill>
                <a:latin typeface="Calibri"/>
              </a:defRPr>
            </a:pPr>
            <a:r>
              <a:t>Local BLEU-4</a:t>
            </a:r>
          </a:p>
          <a:p>
            <a:pPr algn="ctr">
              <a:defRPr sz="2200" b="1">
                <a:solidFill>
                  <a:srgbClr val="224A59"/>
                </a:solidFill>
                <a:latin typeface="Bahnschrift"/>
              </a:defRPr>
            </a:pPr>
            <a:r>
              <a:t>11.13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04288"/>
            <a:ext cx="2011680" cy="914400"/>
          </a:xfrm>
          <a:prstGeom prst="roundRect">
            <a:avLst/>
          </a:prstGeom>
          <a:solidFill>
            <a:srgbClr val="DC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646E"/>
                </a:solidFill>
                <a:latin typeface="Calibri"/>
              </a:defRPr>
            </a:pPr>
            <a:r>
              <a:t>Paper CIDEr</a:t>
            </a:r>
          </a:p>
          <a:p>
            <a:pPr algn="ctr">
              <a:defRPr sz="2200" b="1">
                <a:solidFill>
                  <a:srgbClr val="224A59"/>
                </a:solidFill>
                <a:latin typeface="Bahnschrift"/>
              </a:defRPr>
            </a:pPr>
            <a:r>
              <a:t>145.8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304288"/>
            <a:ext cx="2011680" cy="914400"/>
          </a:xfrm>
          <a:prstGeom prst="roundRect">
            <a:avLst/>
          </a:prstGeom>
          <a:solidFill>
            <a:srgbClr val="F5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646E"/>
                </a:solidFill>
                <a:latin typeface="Calibri"/>
              </a:defRPr>
            </a:pPr>
            <a:r>
              <a:t>Local CIDEr</a:t>
            </a:r>
          </a:p>
          <a:p>
            <a:pPr algn="ctr">
              <a:defRPr sz="2200" b="1">
                <a:solidFill>
                  <a:srgbClr val="224A59"/>
                </a:solidFill>
                <a:latin typeface="Bahnschrift"/>
              </a:defRPr>
            </a:pPr>
            <a:r>
              <a:t>37.57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520440"/>
            <a:ext cx="4480560" cy="160020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3611880"/>
            <a:ext cx="4187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59"/>
                </a:solidFill>
                <a:latin typeface="Bahnschrift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3995928"/>
            <a:ext cx="4224528" cy="103327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local result is far below the paper, but the comparison is not apples to apples.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local system uses smaller backbones, much less data, a reduced validation subset, and a far smaller compute budget.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So this slide supports a scale-gap argument, not a leaderboard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Why The Gap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term_paper.tex, failures_and_fixes.md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078992"/>
            <a:ext cx="2788920" cy="1463040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170432"/>
            <a:ext cx="2496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Backbone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2532888" cy="8961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Paper: ViT-g + OPT-2.7B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Local: CLIP ViT-L + OPT-350M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8496" y="1078992"/>
            <a:ext cx="2788920" cy="1463040"/>
          </a:xfrm>
          <a:prstGeom prst="roundRect">
            <a:avLst/>
          </a:prstGeom>
          <a:solidFill>
            <a:srgbClr val="F5E7D4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170432"/>
            <a:ext cx="2496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782B"/>
                </a:solidFill>
                <a:latin typeface="Bahnschrift"/>
              </a:defRPr>
            </a:pPr>
            <a:r>
              <a:t>Data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554480"/>
            <a:ext cx="2532888" cy="8961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Paper uses massive multimodal pretraining.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Local runs use reduced COCO subsets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078992"/>
            <a:ext cx="2788920" cy="146304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1170432"/>
            <a:ext cx="2496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Optimization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2532888" cy="89611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Paper-scale steps and hardware were impossible locally.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Student schedules were much shorter and cheaper.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063240"/>
            <a:ext cx="3566160" cy="150876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3744" y="3154680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6B57"/>
                </a:solidFill>
                <a:latin typeface="Bahnschrift"/>
              </a:defRPr>
            </a:pPr>
            <a:r>
              <a:t>Evaluation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3538728"/>
            <a:ext cx="3310128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Local scores come from a consistent 1k validation subset, not the paper's full Karpathy test setup.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063240"/>
            <a:ext cx="3566160" cy="150876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3154680"/>
            <a:ext cx="3273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A4E45"/>
                </a:solidFill>
                <a:latin typeface="Bahnschrift"/>
              </a:defRPr>
            </a:pPr>
            <a:r>
              <a:t>Environment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3538728"/>
            <a:ext cx="3310128" cy="9418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1C2830"/>
                </a:solidFill>
                <a:latin typeface="Calibri"/>
              </a:defRPr>
            </a:pPr>
            <a:r>
              <a:t>Windows-specific dependency and metric issues forced extra engineering and offline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56048"/>
            <a:ext cx="10332720" cy="749808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5047488"/>
            <a:ext cx="10040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Bottom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5431536"/>
            <a:ext cx="10076688" cy="1828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The performance gap is the expected result of a faithful but aggressively downscaled reproduction. It does not mean the pipeline was broken.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Qualitative Behavior Of The Reproduced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caption_eval_examples_office_epoch3.json, staged COCO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841248"/>
            <a:ext cx="10835640" cy="749808"/>
          </a:xfrm>
          <a:prstGeom prst="roundRect">
            <a:avLst/>
          </a:prstGeom>
          <a:solidFill>
            <a:srgbClr val="DCEAF1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932688"/>
            <a:ext cx="10543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Common Error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16736"/>
            <a:ext cx="10579608" cy="1828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Predictions often sound fluent but substitute the wrong object, person, or scene. That is why diversity improved faster than true semantic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2788920" cy="4069080"/>
          </a:xfrm>
          <a:prstGeom prst="roundRect">
            <a:avLst/>
          </a:prstGeom>
          <a:solidFill>
            <a:srgbClr val="FEFEFD"/>
          </a:solidFill>
          <a:ln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CO_val2014_0000005116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883664"/>
            <a:ext cx="1289304" cy="1719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" y="3685032"/>
            <a:ext cx="2615184" cy="713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1C2830"/>
                </a:solidFill>
                <a:latin typeface="Calibri"/>
              </a:defRPr>
            </a:pPr>
            <a:r>
              <a:t>Reference: A woman in a scarf cooks using a huge ladel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4425696"/>
            <a:ext cx="2615184" cy="11704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AA4E45"/>
                </a:solidFill>
                <a:latin typeface="Calibri"/>
              </a:defRPr>
            </a:pPr>
            <a:r>
              <a:t>Prediction: a woman holding a baby in her arms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810512"/>
            <a:ext cx="2788920" cy="4069080"/>
          </a:xfrm>
          <a:prstGeom prst="roundRect">
            <a:avLst/>
          </a:prstGeom>
          <a:solidFill>
            <a:srgbClr val="FEFEFD"/>
          </a:solidFill>
          <a:ln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CO_val2014_0000003411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242" y="1883664"/>
            <a:ext cx="2576595" cy="17190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51376" y="3685032"/>
            <a:ext cx="2615184" cy="713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1C2830"/>
                </a:solidFill>
                <a:latin typeface="Calibri"/>
              </a:defRPr>
            </a:pPr>
            <a:r>
              <a:t>Reference: An Asian woman surfing in a wet suit.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4425696"/>
            <a:ext cx="2615184" cy="11704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AA4E45"/>
                </a:solidFill>
                <a:latin typeface="Calibri"/>
              </a:defRPr>
            </a:pPr>
            <a:r>
              <a:t>Prediction: a man riding a bicycle on a surfboard in the ocean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10512"/>
            <a:ext cx="2788920" cy="4069080"/>
          </a:xfrm>
          <a:prstGeom prst="roundRect">
            <a:avLst/>
          </a:prstGeom>
          <a:solidFill>
            <a:srgbClr val="FEFEFD"/>
          </a:solidFill>
          <a:ln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CO_val2014_0000003530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687" y="1883664"/>
            <a:ext cx="2594825" cy="17190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88936" y="3685032"/>
            <a:ext cx="2615184" cy="7132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1C2830"/>
                </a:solidFill>
                <a:latin typeface="Calibri"/>
              </a:defRPr>
            </a:pPr>
            <a:r>
              <a:t>Reference: A hand pulls a slice of mushroom pizza from the pie.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4425696"/>
            <a:ext cx="2615184" cy="11704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AA4E45"/>
                </a:solidFill>
                <a:latin typeface="Calibri"/>
              </a:defRPr>
            </a:pPr>
            <a:r>
              <a:t>Prediction: a piece of bread on a plate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2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Bahnschrift"/>
              </a:defRPr>
            </a:pPr>
            <a:r>
              <a:t>What This Project Actually 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6419088"/>
            <a:ext cx="11567160" cy="9144"/>
          </a:xfrm>
          <a:prstGeom prst="rect">
            <a:avLst/>
          </a:prstGeom>
          <a:solidFill>
            <a:srgbClr val="C9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646E"/>
                </a:solidFill>
                <a:latin typeface="Calibri"/>
              </a:defRPr>
            </a:pPr>
            <a:r>
              <a:t>Sources: term_paper.tex, mkamrul_project_answers.md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4A59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987552"/>
            <a:ext cx="4983480" cy="3246120"/>
          </a:xfrm>
          <a:prstGeom prst="roundRect">
            <a:avLst/>
          </a:prstGeom>
          <a:solidFill>
            <a:srgbClr val="DDEEE6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078992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6B57"/>
                </a:solidFill>
                <a:latin typeface="Bahnschrift"/>
              </a:defRPr>
            </a:pPr>
            <a:r>
              <a:t>Succeeded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463040"/>
            <a:ext cx="4727448" cy="26791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full BLIP-2 pipeline ran locally: stage 1, stage 2, and caption fine-tuning all completed.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reproduction produced reusable scripts, checkpoints, logs, metric files, and evaluation artifacts.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Caption quality improved in an interpretable way from 10k to the 50k office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987552"/>
            <a:ext cx="4983480" cy="3246120"/>
          </a:xfrm>
          <a:prstGeom prst="roundRect">
            <a:avLst/>
          </a:prstGeom>
          <a:solidFill>
            <a:srgbClr val="F3E0D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078992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4E45"/>
                </a:solidFill>
                <a:latin typeface="Bahnschrift"/>
              </a:defRPr>
            </a:pPr>
            <a:r>
              <a:t>Did Not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463040"/>
            <a:ext cx="4727448" cy="26791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local model stayed far below the paper's captioning quality.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The 100k long run increased diversity but did not beat the earlier 50k best on BLEU-4 or CIDEr.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1C2830"/>
                </a:solidFill>
                <a:latin typeface="Calibri"/>
              </a:defRPr>
            </a:pPr>
            <a:r>
              <a:t>So pipeline reproducibility did not imply performance reproducibility.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590288"/>
            <a:ext cx="10058400" cy="822960"/>
          </a:xfrm>
          <a:prstGeom prst="roundRect">
            <a:avLst/>
          </a:prstGeom>
          <a:solidFill>
            <a:srgbClr val="FEFEFD"/>
          </a:solidFill>
          <a:ln w="13970">
            <a:solidFill>
              <a:srgbClr val="C9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681728"/>
            <a:ext cx="9765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4A59"/>
                </a:solidFill>
                <a:latin typeface="Bahnschrift"/>
              </a:defRPr>
            </a:pPr>
            <a:r>
              <a:t>Final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5065776"/>
            <a:ext cx="9802368" cy="25603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1C2830"/>
                </a:solidFill>
                <a:latin typeface="Calibri"/>
              </a:defRPr>
            </a:pPr>
            <a:r>
              <a:t>BLIP-2 was the correct reproduction target because its core method survives downscaling. The project's real result is that modular multimodal pipelines can be reproduced on student hardware even when paper-level performance cannot.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