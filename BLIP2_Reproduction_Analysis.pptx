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custom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Layout" Target="slideLayouts/slideLayout1.xml"/>
  <Relationship Id="rId1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>
  <p:cSld/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/>
</p:sldMaster>
</file>

<file path=ppt/slides/slide1.xml><?xml version="1.0" encoding="UTF-8" standalone="yes"?>
<p:sld xmlns:p="http://schemas.openxmlformats.org/presentationml/2006/main" xmlns:r="http://schemas.openxmlformats.org/officeDocument/2006/relationships">
  <p:cSld>
    <p:bg><p:bgPr><a:solidFill xmlns:a="http://schemas.openxmlformats.org/drawingml/2006/main"><a:srgbClr val="192D50"/></a:solidFill><a:effectLst/></p:bgPr></p:bg>
    <p:spTree>
      <p:nvGrpSpPr><p:cNvPr id="1" name="Titl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457200" y="1828800"/><a:ext cx="8229600" cy="1371600"/></a:xfrm></p:spPr><p:txBody><a:bodyPr xmlns:a="http://schemas.openxmlformats.org/drawingml/2006/main" rtlCol="0"/><a:lstStyle/><a:p><a:r><a:rPr lang="en-US" sz="5400" b="1"><a:solidFill><a:srgbClr val="FFFFFF"/></a:solidFill></a:rPr><a:t>Multimodal LLMs: From Theory to Practice</a:t></a:r></a:p></p:txBody></p:sp>
      <p:sp><p:nvSpPr><p:cNvPr id="3" name="Subtitle"/><p:cNvSpPr txBody="1"/><p:nvPr/></p:nvSpPr><p:spPr><a:xfrm xmlns:a="http://schemas.openxmlformats.org/drawingml/2006/main"><a:off x="457200" y="3600000"/><a:ext cx="8229600" cy="1800000"/></a:xfrm></p:spPr><p:txBody><a:bodyPr xmlns:a="http://schemas.openxmlformats.org/drawingml/2006/main" rtlCol="0"/><a:lstStyle/><a:p><a:r><a:rPr lang="en-US" sz="2800"><a:solidFill><a:srgbClr val="C8DCFF"/></a:solidFill></a:rPr><a:t>Comparative Critique + BLIP-2 Reproduction Study</a:t></a:r></a:p></p:txBody></p:sp>
    </p:spTree>
  </p:cSld>
</p:sld>
</file>

<file path=ppt/slides/slide2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Three Papers: Why & What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• BLIP-2 (Li et al., 2023): Q-Former bridge → frozen backbones → efficient alignment</a:t></a:r></a:p><a:p><a:pPr lvl="0" marL="342900"><a:buFont typeface="Calibri"/><a:buChar char="•"/></a:pPr><a:r><a:rPr lang="en-US" sz="1400"><a:solidFill><a:srgbClr val="000000"/></a:solidFill></a:rPr><a:t>• LLaVA (Liu et al., 2023): Instruction tuning → multimodal assistants → data-centric</a:t></a:r></a:p><a:p><a:pPr lvl="0" marL="342900"><a:buFont typeface="Calibri"/><a:buChar char="•"/></a:pPr><a:r><a:rPr lang="en-US" sz="1400"><a:solidFill><a:srgbClr val="000000"/></a:solidFill></a:rPr><a:t>• VisionLLM v2 (Wu et al., 2024): Multi-decoder routing → end-to-end generalist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Common domain: Vision-language alignment & cross-modal understanding</a:t></a:r></a:p><a:p><a:pPr lvl="0" marL="342900"><a:buFont typeface="Calibri"/><a:buChar char="•"/></a:pPr><a:r><a:rPr lang="en-US" sz="1400"><a:solidFill><a:srgbClr val="000000"/></a:solidFill></a:rPr><a:t>Key difference: Architecture complexity & supervision strategy scale</a:t></a:r></a:p><a:p><a:pPr lvl="0" marL="342900"><a:buFont typeface="Calibri"/><a:buChar char="•"/></a:pPr><a:r><a:rPr lang="en-US" sz="1400"><a:solidFill><a:srgbClr val="000000"/></a:solidFill></a:rPr><a:t>Selection: BLIP-2 most suitable for local reproduction (modular, open, downscalable)</a:t></a:r></a:p></p:txBody></p:sp>
    </p:spTree>
  </p:cSld>
</p:sld>
</file>

<file path=ppt/slides/slide3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Problem Statements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BLIP-2: Can lightweight bridge efficiently connect frozen vision & language?</a:t></a:r></a:p><a:p><a:pPr lvl="0" marL="342900"><a:buFont typeface="Calibri"/><a:buChar char="•"/></a:pPr><a:r><a:rPr lang="en-US" sz="1400"><a:solidFill><a:srgbClr val="000000"/></a:solidFill></a:rPr><a:t>→ Compute-efficient multimodal learning without full retraining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LLaVA: How to build practical multimodal assistants vs. captioning?</a:t></a:r></a:p><a:p><a:pPr lvl="0" marL="342900"><a:buFont typeface="Calibri"/><a:buChar char="•"/></a:pPr><a:r><a:rPr lang="en-US" sz="1400"><a:solidFill><a:srgbClr val="000000"/></a:solidFill></a:rPr><a:t>→ Supervision format impact on assistant behavior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VisionLLM v2: Can one system unify many vision & vision-language tasks?</a:t></a:r></a:p><a:p><a:pPr lvl="0" marL="342900"><a:buFont typeface="Calibri"/><a:buChar char="•"/></a:pPr><a:r><a:rPr lang="en-US" sz="1400"><a:solidFill><a:srgbClr val="000000"/></a:solidFill></a:rPr><a:t>→ Generalist perception via shared router + task decoders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Shared thread: Reuse frozen backbones, reduce training complexity</a:t></a:r></a:p></p:txBody></p:sp>
    </p:spTree>
  </p:cSld>
</p:sld>
</file>

<file path=ppt/slides/slide4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Methodology Comparison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BLIP-2: Two-stage Q-Former (Stage1: ITC+ITM+LM; Stage2: aligned generation)</a:t></a:r></a:p><a:p><a:pPr lvl="1" marL="685800"><a:buFont typeface="Calibri"/><a:buChar char="•"/></a:pPr><a:r><a:rPr lang="en-US" sz="1400"><a:solidFill><a:srgbClr val="000000"/></a:solidFill></a:rPr><a:t>Data: 129M pairs | Compute: 16×A100 40GB, multi-day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LLaVA: Lightweight projection + instruction tuning (GPT-4 generated)</a:t></a:r></a:p><a:p><a:pPr lvl="1" marL="685800"><a:buFont typeface="Calibri"/><a:buChar char="•"/></a:pPr><a:r><a:rPr lang="en-US" sz="1400"><a:solidFill><a:srgbClr val="000000"/></a:solidFill></a:rPr><a:t>Data: 158K pairs (ViT-L CLIP + Vicuna-7B) | Compute: 8×A100, ~10h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VisionLLM v2: Central MLLM + super-link routing to decoders</a:t></a:r></a:p><a:p><a:pPr lvl="1" marL="685800"><a:buFont typeface="Calibri"/><a:buChar char="•"/></a:pPr><a:r><a:rPr lang="en-US" sz="1400"><a:solidFill><a:srgbClr val="000000"/></a:solidFill></a:rPr><a:t>Data: 64 datasets, ~100 tasks | Compute: 64→128 A100 GPUs, 18 days</a:t></a:r></a:p></p:txBody></p:sp>
    </p:spTree>
  </p:cSld>
</p:sld>
</file>

<file path=ppt/slides/slide5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Results & Reproducibility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BLIP-2 | BLEU-4: 43.7, CIDEr: 145.8 | ✓ BEST LOCAL TARGET</a:t></a:r></a:p><a:p><a:pPr lvl="1" marL="685800"><a:buFont typeface="Calibri"/><a:buChar char="•"/></a:pPr><a:r><a:rPr lang="en-US" sz="1400"><a:solidFill><a:srgbClr val="000000"/></a:solidFill></a:rPr><a:t>• Frozen arch preserves coherent downscaling</a:t></a:r></a:p><a:p><a:pPr lvl="1" marL="685800"><a:buFont typeface="Calibri"/><a:buChar char="•"/></a:pPr><a:r><a:rPr lang="en-US" sz="1400"><a:solidFill><a:srgbClr val="000000"/></a:solidFill></a:rPr><a:t>• Official code available (LAVIS), no synthetic data dependency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LLaVA | ScienceQA: 92.53% | ⚠ VIABLE WITH CONSTRAINTS</a:t></a:r></a:p><a:p><a:pPr lvl="1" marL="685800"><a:buFont typeface="Calibri"/><a:buChar char="•"/></a:pPr><a:r><a:rPr lang="en-US" sz="1400"><a:solidFill><a:srgbClr val="000000"/></a:solidFill></a:rPr><a:t>• Depends on GPT-4 instruction pipeline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VisionLLM v2 | Broad tasks | ✗ NOT LOCAL FEASIBLE</a:t></a:r></a:p><a:p><a:pPr lvl="1" marL="685800"><a:buFont typeface="Calibri"/><a:buChar char="•"/></a:pPr><a:r><a:rPr lang="en-US" sz="1400"><a:solidFill><a:srgbClr val="000000"/></a:solidFill></a:rPr><a:t>• 64-128 A100 required, too high complexity</a:t></a:r></a:p></p:txBody></p:sp>
    </p:spTree>
  </p:cSld>
</p:sld>
</file>

<file path=ppt/slides/slide6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Limitations Across Papers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BLIP-2: Performance tightly coupled to large backbones (ViT-g, OPT-2.7B)</a:t></a:r></a:p><a:p><a:pPr lvl="1" marL="685800"><a:buFont typeface="Calibri"/><a:buChar char="•"/></a:pPr><a:r><a:rPr lang="en-US" sz="1400"><a:solidFill><a:srgbClr val="000000"/></a:solidFill></a:rPr><a:t>→ Scaling to commodity hardware unexplored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LLaVA: GPT-4 instruction-data reliance introduces synthetic bias</a:t></a:r></a:p><a:p><a:pPr lvl="1" marL="685800"><a:buFont typeface="Calibri"/><a:buChar char="•"/></a:pPr><a:r><a:rPr lang="en-US" sz="1400"><a:solidFill><a:srgbClr val="000000"/></a:solidFill></a:rPr><a:t>→ Reproducibility depends on pipeline quality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VisionLLM v2: Multi-decoder complexity makes ablation difficult</a:t></a:r></a:p><a:p><a:pPr lvl="1" marL="685800"><a:buFont typeface="Calibri"/><a:buChar char="•"/></a:pPr><a:r><a:rPr lang="en-US" sz="1400"><a:solidFill><a:srgbClr val="000000"/></a:solidFill></a:rPr><a:t>→ Gains unclear (routing? decoders? data? scale?)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General: All show scale→performance coupling</a:t></a:r></a:p></p:txBody></p:sp>
    </p:spTree>
  </p:cSld>
</p:sld>
</file>

<file path=ppt/slides/slide7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Local BLIP-2 Setup: Bridging Scale Gap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Hardware: RTX 3070 8GB (vs. 16 A100 40GB)</a:t></a:r></a:p><a:p><a:pPr lvl="0" marL="342900"><a:buFont typeface="Calibri"/><a:buChar char="•"/></a:pPr><a:r><a:rPr lang="en-US" sz="1400"><a:solidFill><a:srgbClr val="000000"/></a:solidFill></a:rPr><a:t>Vision: CLIP ViT-L (vs. ViT-g); LLM: OPT-350M (vs. OPT-2.7B); Res: 224 (vs. 364)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Data: COCO Karpathy subsets (10k, 50k, 100k) vs. 129M pretraining pairs</a:t></a:r></a:p><a:p><a:pPr lvl="1" marL="685800"><a:buFont typeface="Calibri"/><a:buChar char="•"/></a:pPr><a:r><a:rPr lang="en-US" sz="1400"><a:solidFill><a:srgbClr val="000000"/></a:solidFill></a:rPr><a:t>• Fixed val/test: 1k each for fidelity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Pipeline stages (frozen backbone design preserved):</a:t></a:r></a:p><a:p><a:pPr lvl="1" marL="685800"><a:buFont typeface="Calibri"/><a:buChar char="•"/></a:pPr><a:r><a:rPr lang="en-US" sz="1400"><a:solidFill><a:srgbClr val="000000"/></a:solidFill></a:rPr><a:t>• Stage 1: Q-Former + frozen ViT-L via ITC+ITM+LM</a:t></a:r></a:p><a:p><a:pPr lvl="1" marL="685800"><a:buFont typeface="Calibri"/><a:buChar char="•"/></a:pPr><a:r><a:rPr lang="en-US" sz="1400"><a:solidFill><a:srgbClr val="000000"/></a:solidFill></a:rPr><a:t>• Stage 2: Generative alignment (Q→LLM)</a:t></a:r></a:p><a:p><a:pPr lvl="1" marL="685800"><a:buFont typeface="Calibri"/><a:buChar char="•"/></a:pPr><a:r><a:rPr lang="en-US" sz="1400"><a:solidFill><a:srgbClr val="000000"/></a:solidFill></a:rPr><a:t>• Stage 3: Caption finetuning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Schedules: 50k (3/3/5), 100k (10/10/15) epochs</a:t></a:r></a:p></p:txBody></p:sp>
    </p:spTree>
  </p:cSld>
</p:sld>
</file>

<file path=ppt/slides/slide8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Local Results & Scaling Analysis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Paper BLIP-2 (ViT-g, OPT-2.7B, 129M): BLEU-4=43.7, CIDEr=145.8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Local 10k:    BLEU-4=1.45,   CIDEr=3.03    (baseline)</a:t></a:r></a:p><a:p><a:pPr lvl="0" marL="342900"><a:buFont typeface="Calibri"/><a:buChar char="•"/></a:pPr><a:r><a:rPr lang="en-US" sz="1400"><a:solidFill><a:srgbClr val="000000"/></a:solidFill></a:rPr><a:t>Local 50k:    BLEU-4=11.13,  CIDEr=37.57   (epoch 3) ✓ PEAK</a:t></a:r></a:p><a:p><a:pPr lvl="0" marL="342900"><a:buFont typeface="Calibri"/><a:buChar char="•"/></a:pPr><a:r><a:rPr lang="en-US" sz="1400"><a:solidFill><a:srgbClr val="000000"/></a:solidFill></a:rPr><a:t>Local 100k:   BLEU-4=8.57,   CIDEr=25.34   (epoch 2) ⚠ PEAKS EARLY</a:t></a:r></a:p><a:p><a:pPr lvl="0" marL="342900"><a:buFont typeface="Calibri"/><a:buChar char="•"/></a:pPr><a:r><a:rPr lang="en-US" sz="1400"><a:solidFill><a:srgbClr val="000000"/></a:solidFill></a:rPr><a:t>Local 100k:   BLEU-4=6.61,   CIDEr=18.36   (epoch 14 final) → degradation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Key finding: 10k→50k shows >7× gain (learning). 50k→100k peaks early.</a:t></a:r></a:p></p:txBody></p:sp>
    </p:spTree>
  </p:cSld>
</p:sld>
</file>

<file path=ppt/slides/slide9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Why The Gap? Systematic Breakdown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Paper: ViT-g (7×), OPT-2.7B (8×), 129M pairs (1290×), 364px</a:t></a:r></a:p><a:p><a:pPr lvl="0" marL="342900"><a:buFont typeface="Calibri"/><a:buChar char="•"/></a:pPr><a:r><a:rPr lang="en-US" sz="1400"><a:solidFill><a:srgbClr val="000000"/></a:solidFill></a:rPr><a:t>Local: ViT-L, OPT-350M, 50k pairs, 224px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Gap sources:</a:t></a:r></a:p><a:p><a:pPr lvl="0" marL="342900"><a:buFont typeface="Calibri"/><a:buChar char="•"/></a:pPr><a:r><a:rPr lang="en-US" sz="1400"><a:solidFill><a:srgbClr val="000000"/></a:solidFill></a:rPr><a:t>• Backbone scale (ViT-g→ViT-L): ~3-4× capacity loss</a:t></a:r></a:p><a:p><a:pPr lvl="0" marL="342900"><a:buFont typeface="Calibri"/><a:buChar char="•"/></a:pPr><a:r><a:rPr lang="en-US" sz="1400"><a:solidFill><a:srgbClr val="000000"/></a:solidFill></a:rPr><a:t>• LLM scale (OPT-2.7B→OPT-350M): ~8× reduction</a:t></a:r></a:p><a:p><a:pPr lvl="0" marL="342900"><a:buFont typeface="Calibri"/><a:buChar char="•"/></a:pPr><a:r><a:rPr lang="en-US" sz="1400"><a:solidFill><a:srgbClr val="000000"/></a:solidFill></a:rPr><a:t>• Pre-training data: 129M→0 external (COCO-only) = major impact</a:t></a:r></a:p><a:p><a:pPr lvl="0" marL="342900"><a:buFont typeface="Calibri"/><a:buChar char="•"/></a:pPr><a:r><a:rPr lang="en-US" sz="1400"><a:solidFill><a:srgbClr val="000000"/></a:solidFill></a:rPr><a:t>• Fine-tune data: 50k vs. massive corpus</a:t></a:r></a:p><a:p><a:pPr lvl="0" marL="342900"><a:buFont typeface="Calibri"/><a:buChar char="•"/></a:pPr><a:r><a:rPr lang="en-US" sz="1400"><a:solidFill><a:srgbClr val="000000"/></a:solidFill></a:rPr><a:t>• Resolution & budget: 224→364, schedules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Verdict: ~25-30× gap = multiplicative, NOT pipeline failure</a:t></a:r></a:p></p:txBody></p:sp>
    </p:spTree>
  </p:cSld>
</p:sld>
</file>

<file path=ppt/slides/slide10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100k Run: Peak-Early Phenomenon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Training losses decreased smoothly (Stage 1: 0.33, Stage 2: 0.36)</a:t></a:r></a:p><a:p><a:pPr lvl="0" marL="342900"><a:buFont typeface="Calibri"/><a:buChar char="•"/></a:pPr><a:r><a:rPr lang="en-US" sz="1400"><a:solidFill><a:srgbClr val="000000"/></a:solidFill></a:rPr><a:t>→ Bridge training stable, no divergence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Caption metrics showed early peaking:</a:t></a:r></a:p><a:p><a:pPr lvl="1" marL="685800"><a:buFont typeface="Calibri"/><a:buChar char="•"/></a:pPr><a:r><a:rPr lang="en-US" sz="1400"><a:solidFill><a:srgbClr val="000000"/></a:solidFill></a:rPr><a:t>• Best: Epoch 2 (BLEU-4=8.57, CIDEr=25.34)</a:t></a:r></a:p><a:p><a:pPr lvl="1" marL="685800"><a:buFont typeface="Calibri"/><a:buChar char="•"/></a:pPr><a:r><a:rPr lang="en-US" sz="1400"><a:solidFill><a:srgbClr val="000000"/></a:solidFill></a:rPr><a:t>• Final: Epoch 14 (BLEU-4=6.61, CIDEr=18.36) – 23% decline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Root cause: Without tuned regularization, longer training</a:t></a:r></a:p><a:p><a:pPr lvl="0" marL="342900"><a:buFont typeface="Calibri"/><a:buChar char="•"/></a:pPr><a:r><a:rPr lang="en-US" sz="1400"><a:solidFill><a:srgbClr val="000000"/></a:solidFill></a:rPr><a:t>without validation-driven early stopping = overfitting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Diversity increased (677→734 captions) but semantic quality degraded</a:t></a:r></a:p></p:txBody></p:sp>
    </p:spTree>
  </p:cSld>
</p:sld>
</file>

<file path=ppt/slides/slide11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Study Limitations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1. Local eval: 1k val/test (paper: full Karpathy)</a:t></a:r></a:p><a:p><a:pPr lvl="1" marL="685800"><a:buFont typeface="Calibri"/><a:buChar char="•"/></a:pPr><a:r><a:rPr lang="en-US" sz="1400"><a:solidFill><a:srgbClr val="000000"/></a:solidFill></a:rPr><a:t>→ Internally comparable but not leaderboard-equivalent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2. Downscaling: CLIP ViT-L + OPT-350M vs. ViT-g + OPT-2.7B</a:t></a:r></a:p><a:p><a:pPr lvl="1" marL="685800"><a:buFont typeface="Calibri"/><a:buChar char="•"/></a:pPr><a:r><a:rPr lang="en-US" sz="1400"><a:solidFill><a:srgbClr val="000000"/></a:solidFill></a:rPr><a:t>→ Studied downscaling path, not exact reproduction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3. Single-seed runs (no variance)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4. Windows portability: Code fixes for non-distributed mode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5. No synthetic data (unlike LLaVA)</a:t></a:r></a:p></p:txBody></p:sp>
    </p:spTree>
  </p:cSld>
</p:sld>
</file>

<file path=ppt/slides/slide12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Future Work & Unexplored Directions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1. Backbone scaling: ViT-B, ViT-L, ViT-H systematically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2. Data augmentation: Synthetic descriptions from larger models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3. Regularization tuning: Early stopping, dropout, LR schedules</a:t></a:r></a:p><a:p><a:pPr lvl="1" marL="685800"><a:buFont typeface="Calibri"/><a:buChar char="•"/></a:pPr><a:r><a:rPr lang="en-US" sz="1400"><a:solidFill><a:srgbClr val="000000"/></a:solidFill></a:rPr><a:t>for student models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4. Multi-resolution training (224→448) with batch accumulation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5. Ensemble decoded captions from multiple checkpoints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6. Compare ViT-L CLIP embeddings on external benchmarks</a:t></a:r></a:p></p:txBody></p:sp>
    </p:spTree>
  </p:cSld>
</p:sld>
</file>

<file path=ppt/slides/slide13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Main Conclusions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✓ BLIP-2 pipeline IS reproducible on consumer GPU</a:t></a:r></a:p><a:p><a:pPr lvl="1" marL="685800"><a:buFont typeface="Calibri"/><a:buChar char="•"/></a:pPr><a:r><a:rPr lang="en-US" sz="1400"><a:solidFill><a:srgbClr val="000000"/></a:solidFill></a:rPr><a:t>(all 3 stages ran end-to-end)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✗ BLIP-2 performance NOT directly reproducible at local scale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⟹ Gap is systematic (backbones, data, compute), NOT pathological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Why BLIP-2 was best choice:</a:t></a:r></a:p><a:p><a:pPr lvl="1" marL="685800"><a:buFont typeface="Calibri"/><a:buChar char="•"/></a:pPr><a:r><a:rPr lang="en-US" sz="1400"><a:solidFill><a:srgbClr val="000000"/></a:solidFill></a:rPr><a:t>• Modular Q-Former provides downscaling path</a:t></a:r></a:p><a:p><a:pPr lvl="1" marL="685800"><a:buFont typeface="Calibri"/><a:buChar char="•"/></a:pPr><a:r><a:rPr lang="en-US" sz="1400"><a:solidFill><a:srgbClr val="000000"/></a:solidFill></a:rPr><a:t>• Frozen backbones allow principled reduction</a:t></a:r></a:p><a:p><a:pPr lvl="1" marL="685800"><a:buFont typeface="Calibri"/><a:buChar char="•"/></a:pPr><a:r><a:rPr lang="en-US" sz="1400"><a:solidFill><a:srgbClr val="000000"/></a:solidFill></a:rPr><a:t>• Well-maintained LAVIS code</a:t></a:r></a:p><a:p><a:pPr lvl="1" marL="685800"><a:buFont typeface="Calibri"/><a:buChar char="•"/></a:pPr><a:r><a:rPr lang="en-US" sz="1400"><a:solidFill><a:srgbClr val="000000"/></a:solidFill></a:rPr><a:t>• No synthetic data dependency</a:t></a:r></a:p></p:txBody></p:sp>
    </p:spTree>
  </p:cSld>
</p:sld>
</file>

<file path=ppt/slides/slide14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Reproducibility Artifacts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Checkpoint registry: metrics/blip2/checkpoint_registry.jsonl</a:t></a:r></a:p><a:p><a:pPr lvl="1" marL="685800"><a:buFont typeface="Calibri"/><a:buChar char="•"/></a:pPr><a:r><a:rPr lang="en-US" sz="1400"><a:solidFill><a:srgbClr val="000000"/></a:solidFill></a:rPr><a:t>→ All runs, epochs, losses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Per-epoch evals: metrics/blip2/caption_eval_summary_*.json</a:t></a:r></a:p><a:p><a:pPr lvl="1" marL="685800"><a:buFont typeface="Calibri"/><a:buChar char="•"/></a:pPr><a:r><a:rPr lang="en-US" sz="1400"><a:solidFill><a:srgbClr val="000000"/></a:solidFill></a:rPr><a:t>→ Full trajectories, best-epoch validated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Configs: configs/stage{1,2}_*.yaml & caption_*.yaml</a:t></a:r></a:p><a:p><a:pPr lvl="1" marL="685800"><a:buFont typeface="Calibri"/><a:buChar char="•"/></a:pPr><a:r><a:rPr lang="en-US" sz="1400"><a:solidFill><a:srgbClr val="000000"/></a:solidFill></a:rPr><a:t>→ Exact hyperparams for 10k/50k/100k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Loss logs: metrics/blip2/progress_registry.jsonl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Code: Official LAVIS pipeline + documented modifications</a:t></a:r></a:p></p:txBody></p:sp>
    </p:spTree>
  </p:cSld>
</p:sld>
</file>

<file path=ppt/slides/slide15.xml><?xml version="1.0" encoding="UTF-8" standalone="yes"?>
<p:sld xmlns:p="http://schemas.openxmlformats.org/presentationml/2006/main" xmlns:r="http://schemas.openxmlformats.org/officeDocument/2006/relationships">
  <p:cSld>
    <p:spTree>
      <p:nvGrpSpPr><p:cNvPr id="1" name="Slide 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 txBody="1"/><p:nvPr/></p:nvSpPr><p:spPr><a:xfrm xmlns:a="http://schemas.openxmlformats.org/drawingml/2006/main"><a:off x="0" y="0"/><a:ext cx="9144000" cy="686400"/></a:xfrm><a:prstGeom xmlns:a="http://schemas.openxmlformats.org/drawingml/2006/main" prst="rect"><a:avLst/></a:prstGeom><a:solidFill xmlns:a="http://schemas.openxmlformats.org/drawingml/2006/main"><a:srgbClr val="192D50"/></a:solidFill></p:spPr><p:txBody><a:bodyPr xmlns:a="http://schemas.openxmlformats.org/drawingml/2006/main" rtlCol="0"/><a:lstStyle/><a:p><a:r><a:rPr lang="en-US" sz="2800" b="1"><a:solidFill><a:srgbClr val="FFFFFF"/></a:solidFill></a:rPr><a:t>Research Implications</a:t></a:r></a:p></p:txBody></p:sp>
      <p:sp><p:nvSpPr><p:cNvPr id="3" name="Body"/><p:cNvSpPr txBody="1"/><p:nvPr/></p:nvSpPr><p:spPr><a:xfrm xmlns:a="http://schemas.openxmlformats.org/drawingml/2006/main"><a:off x="365760" y="914400"/><a:ext cx="8412480" cy="5486400"/></a:xfrm></p:spPr><p:txBody xmlns:a="http://schemas.openxmlformats.org/drawingml/2006/main"><a:bodyPr rtlCol="0"/><a:lstStyle/><a:p><a:pPr lvl="0" marL="342900"><a:buFont typeface="Calibri"/><a:buChar char="•"/></a:pPr><a:r><a:rPr lang="en-US" sz="1400"><a:solidFill><a:srgbClr val="000000"/></a:solidFill></a:rPr><a:t>Multimodal literature conflates architecture + scale</a:t></a:r></a:p><a:p><a:pPr lvl="0" marL="342900"><a:buFont typeface="Calibri"/><a:buChar char="•"/></a:pPr><a:r><a:rPr lang="en-US" sz="1400"><a:solidFill><a:srgbClr val="000000"/></a:solidFill></a:rPr><a:t>This study: BLIP-2 architecture sound; gap is scale-driven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For practitioners:</a:t></a:r></a:p><a:p><a:pPr lvl="1" marL="685800"><a:buFont typeface="Calibri"/><a:buChar char="•"/></a:pPr><a:r><a:rPr lang="en-US" sz="1400"><a:solidFill><a:srgbClr val="000000"/></a:solidFill></a:rPr><a:t>• Backbone selection = biggest lever</a:t></a:r></a:p><a:p><a:pPr lvl="1" marL="685800"><a:buFont typeface="Calibri"/><a:buChar char="•"/></a:pPr><a:r><a:rPr lang="en-US" sz="1400"><a:solidFill><a:srgbClr val="000000"/></a:solidFill></a:rPr><a:t>• Checkpoint selection > longer training (100k proves)</a:t></a:r></a:p><a:p><a:pPr lvl="1" marL="685800"><a:buFont typeface="Calibri"/><a:buChar char="•"/></a:pPr><a:r><a:rPr lang="en-US" sz="1400"><a:solidFill><a:srgbClr val="000000"/></a:solidFill></a:rPr><a:t>• Frozen-bridge genuinely modular & downscalable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For reproducibility:</a:t></a:r></a:p><a:p><a:pPr lvl="1" marL="685800"><a:buFont typeface="Calibri"/><a:buChar char="•"/></a:pPr><a:r><a:rPr lang="en-US" sz="1400"><a:solidFill><a:srgbClr val="000000"/></a:solidFill></a:rPr><a:t>• Pipeline reproducibility ≠ performance (important distinction)</a:t></a:r></a:p><a:p><a:pPr lvl="1" marL="685800"><a:buFont typeface="Calibri"/><a:buChar char="•"/></a:pPr><a:r><a:rPr lang="en-US" sz="1400"><a:solidFill><a:srgbClr val="000000"/></a:solidFill></a:rPr><a:t>• Metric-driven selection needed for student-scale</a:t></a:r></a:p><a:p><a:pPr lvl="1" marL="685800"><a:buFont typeface="Calibri"/><a:buChar char="•"/></a:pPr><a:r><a:rPr lang="en-US" sz="1400"><a:solidFill><a:srgbClr val="000000"/></a:solidFill></a:rPr><a:t>• Artifact trail matters: losses + metrics + configs</a:t></a:r></a:p><a:p><a:pPr lvl="0" marL="342900"><a:buFont typeface="Calibri"/><a:buChar char="•"/></a:pPr><a:r><a:rPr lang="en-US" sz="1400"><a:solidFill><a:srgbClr val="000000"/></a:solidFill></a:rPr><a:t></a:t></a:r></a:p><a:p><a:pPr lvl="0" marL="342900"><a:buFont typeface="Calibri"/><a:buChar char="•"/></a:pPr><a:r><a:rPr lang="en-US" sz="1400"><a:solidFill><a:srgbClr val="000000"/></a:solidFill></a:rPr><a:t>Future: Efficient backbones (MobileViT, DeiT) + full pipeline</a:t></a:r></a:p></p:txBody></p:sp>
    </p:spTree>
  </p:cSld>
</p:sld>
</file>

<file path=ppt/theme/theme1.xml><?xml version="1.0" encoding="utf-8"?>
<a:theme xmlns:a="http://schemas.openxmlformats.org/drawingml/2006/main" name="Office">
  <a:themeElemen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Slides>15</Slides>
  <Application>python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>
  <dc:title>BLIP-2 Reproduction Analysis</dc:title>
  <dc:creator>User</dc:creator>
  <dcterms:created xmlns:xsi="http://www.w3.org/2001/XMLSchema-instance" xsi:type="dcterms:W3CDTF">2026-04-16T20:38:48.190308</dcterms:created>
  <dcterms:modified xmlns:xsi="http://www.w3.org/2001/XMLSchema-instance" xsi:type="dcterms:W3CDTF">2026-04-16T20:38:48.190308</dcterms:modified>
</cp:coreProperties>
</file>