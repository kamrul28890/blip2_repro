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custom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Master" Target="slideMasters/slideMaster1.xml"/>
  <Relationship Id="rId16" Type="http://schemas.openxmlformats.org/officeDocument/2006/relationships/theme" Target="theme/theme1.xml"/>
</Relationships>
</file>

<file path=ppt/slideLayouts/slideLayout1.xml><?xml version="1.0" encoding="UTF-8" standalone="yes"?>
<p:sldLayout xmlns:p="http://schemas.openxmlformats.org/presentationml/2006/main" xmlns:r="http://schemas.openxmlformats.org/officeDocument/2006/relationships">
  <p:cSld><p:bg><p:bgPr><a:solidFill xmlns:a="http://schemas.openxmlformats.org/drawingml/2006/main"><a:srgbClr val="0F1729"/></a:solidFill><a:effectLst/></p:bgPr></p:bg></p:cSld>
  <p:clrMapOvr xmlns:a="http://schemas.openxmlformats.org/drawingml/2006/main"><a:masterClrMapping/></p:clrMapOvr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9"/>
        </a:solidFill>
        <a:effectLst/>
      </p:bgPr>
    </p:bg>
  </p:cSld>
</p:sldMaster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dy="1"/>
          <p:nvPr/>
        </p:nvSpPr>
        <p:spPr>
          <a:xfrm>
            <a:off x="457200" y="1828800"/>
            <a:ext cx="8229600" cy="1828800"/>
          </a:xfrm>
        </p:spPr>
        <p:txBody>
          <a:bodyPr rtlCol="0"/>
          <a:lstStyle/>
          <a:p align="ctr">
            <a:r>
              <a:rPr lang="en-US" sz="6000" b="1">
                <a:solidFill>
                  <a:srgbClr val="3B82F6"/>
                </a:solidFill>
              </a:rPr>
              <a:t>Multimodal LLMs: From Theory to Practice</a:t>
            </a:r>
          </a:p>
        </p:txBody>
      </p:sp>
      <p:sp>
        <p:nvSpPr>
          <p:cNvPr id="3" name="Subtitle"/>
          <p:cNvSpPr txBody="1"/>
          <p:nvPr/>
        </p:nvSpPr>
        <p:spPr>
          <a:xfrm>
            <a:off x="457200" y="4114800"/>
            <a:ext cx="8229600" cy="1828800"/>
          </a:xfrm>
        </p:spPr>
        <p:txBody>
          <a:bodyPr rtlCol="0"/>
          <a:lstStyle/>
          <a:p align="ctr">
            <a:r>
              <a:rPr lang="en-US" sz="2400">
                <a:solidFill>
                  <a:srgbClr val="FFFFFF"/>
                </a:solidFill>
              </a:rPr>
              <a:t>Comparative Critique + BLIP-2 Local Reproduction Study</a:t>
            </a:r>
          </a:p>
          <a:p align="ctr">
            <a:r>
              <a:rPr lang="en-US" sz="1800">
                <a:solidFill>
                  <a:srgbClr val="22C55E"/>
                </a:solidFill>
              </a:rPr>
              <a:t>15 Dense Slides | Best in Class</a:t>
            </a:r>
          </a:p>
        </p:txBody>
      </p:sp>
    </p:spTree>
  </p:cSld>
</p:sld>
</file>

<file path=ppt/slides/slide2.xml><?xml version="1.0" encoding="UTF-8" standalone="yes"?>
<p:sld xmlns:p="http://schemas.openxmlformats.org/presentationml/2006/main" xmlns:a="http://schemas.openxmlformats.org/drawingml/2006/main">
  <p:cSld>
    <p:bg><p:bgPr><a:solidFill><a:srgbClr val="0F1729"/></a:solidFill><a:effectLst/></p:bgPr></p:bg>
    <p:spTree>
      <p:nvGrpSpPr><p:cNvPr id="1" name="Slide 2"/><p:cNvGrpSpPr/><p:nvPr/></p:nvGrpSpPr>
      <p:grpSpPr><a:xfrm><a:off x="0" y="0"/><a:ext cx="9144000" cy="6858000"/><a:chOff x="0" y="0"/><a:chExt cx="9144000" cy="6858000"/></a:xfrm></p:grpSpPr>
      
      <!-- Title bar -->
      <p:sp><p:nvSpPr><p:cNvPr id="2" name="Title"/><p:cNvSpPr txBody="1"/><p:nvPr/></p:nvSpPr>
        <p:spPr><a:xfrm><a:off x="0" y="0"/><a:ext cx="9144000" cy="685800"/></a:xfrm><a:prstGeom prst="rect"><a:avLst/></a:prstGeom><a:solidFill><a:srgbClr val="3B82F6"/></a:solidFill></p:spPr>
        <p:txBody><a:bodyPr rtlCol="0"/><a:lstStyle/><a:p><a:r><a:rPr lang="en-US" sz="2800" b="1"><a:solidFill><a:srgbClr val="FFFFFF"/></a:solidFill></a:rPr><a:t>Local Setup: Downscaling</a:t></a:r></a:p></p:txBody>
      </p:sp>
      
      <!-- Left column -->
      <p:sp><p:nvSpPr><p:cNvPr id="3" name="Left"/><p:cNvSpPr txBody="1"/><p:nvPr/></p:nvSpPr>
        <p:spPr><a:xfrm><a:off x="274638" y="914400"/><a:ext cx="4114800" cy="5486400"/></a:xfrm></p:spPr>
        <p:txBody><a:bodyPr rtlCol="0"/><a:lstStyle/><a:p><a:r><a:rPr lang="en-US" sz="1400" b="1"><a:solidFill><a:srgbClr val="22C55E"/></a:solidFill></a:rPr><a:t>Hardware & Models</a:t></a:r></a:p><a:p><a:r><a:rPr lang="en-US" sz="1000"><a:solidFill><a:srgbClr val="FFFFFF"/></a:solidFill></a:rPr><a:t>• GPU: RTX 3070 8GB</a:t></a:r></a:p><a:p><a:r><a:rPr lang="en-US" sz="1000"><a:solidFill><a:srgbClr val="FFFFFF"/></a:solidFill></a:rPr><a:t>• Vision: CLIP ViT-L</a:t></a:r></a:p><a:p><a:r><a:rPr lang="en-US" sz="1000"><a:solidFill><a:srgbClr val="FFFFFF"/></a:solidFill></a:rPr><a:t>• LLM: OPT-350M</a:t></a:r></a:p><a:p><a:r><a:rPr lang="en-US" sz="1000"><a:solidFill><a:srgbClr val="FFFFFF"/></a:solidFill></a:rPr><a:t>• Resolution: 224px</a:t></a:r></a:p></p:txBody>
      </p:sp>
      
      <!-- Right column -->
      <p:sp><p:nvSpPr><p:cNvPr id="4" name="Right"/><p:cNvSpPr txBody="1"/><p:nvPr/></p:nvSpPr>
        <p:spPr><a:xfrm><a:off x="4754562" y="914400"/><a:ext cx="4114800" cy="5486400"/></a:xfrm></p:spPr>
        <p:txBody><a:bodyPr rtlCol="0"/><a:lstStyle/><a:p><a:r><a:rPr lang="en-US" sz="1400" b="1"><a:solidFill><a:srgbClr val="22C55E"/></a:solidFill></a:rPr><a:t>Paper Configuration</a:t></a:r></a:p><a:p><a:r><a:rPr lang="en-US" sz="1000"><a:solidFill><a:srgbClr val="FFFFFF"/></a:solidFill></a:rPr><a:t>• GPU: 16×A100 40GB</a:t></a:r></a:p><a:p><a:r><a:rPr lang="en-US" sz="1000"><a:solidFill><a:srgbClr val="FFFFFF"/></a:solidFill></a:rPr><a:t>• Vision: ViT-g</a:t></a:r></a:p><a:p><a:r><a:rPr lang="en-US" sz="1000"><a:solidFill><a:srgbClr val="FFFFFF"/></a:solidFill></a:rPr><a:t>• LLM: OPT-2.7B</a:t></a:r></a:p><a:p><a:r><a:rPr lang="en-US" sz="1000"><a:solidFill><a:srgbClr val="FFFFFF"/></a:solidFill></a:rPr><a:t>• Resolution: 364px</a:t></a:r></a:p></p:txBody>
      </p:sp>
    </p:spTree>
  </p:cSld>
</p:sld>
</file>

<file path=ppt/slides/slide3.xml><?xml version="1.0" encoding="UTF-8" standalone="yes"?>
<p:sld xmlns:p="http://schemas.openxmlformats.org/presentationml/2006/main" xmlns:a="http://schemas.openxmlformats.org/drawingml/2006/main">
  <p:cSld>
    <p:bg><p:bgPr><a:solidFill><a:srgbClr val="0F1729"/></a:solidFill><a:effectLst/></p:bgPr></p:bg>
    <p:spTree>
      <p:nvGrpSpPr><p:cNvPr id="1" name="Slide 3"/><p:cNvGrpSpPr/><p:nvPr/></p:nvGrpSpPr>
      <p:grpSpPr><a:xfrm><a:off x="0" y="0"/><a:ext cx="9144000" cy="6858000"/><a:chOff x="0" y="0"/><a:chExt cx="9144000" cy="6858000"/></a:xfrm></p:grpSpPr>
      
      <!-- Title bar -->
      <p:sp><p:nvSpPr><p:cNvPr id="2" name="Title"/><p:cNvSpPr txBody="1"/><p:nvPr/></p:nvSpPr>
        <p:spPr><a:xfrm><a:off x="0" y="0"/><a:ext cx="9144000" cy="685800"/></a:xfrm><a:prstGeom prst="rect"><a:avLst/></a:prstGeom><a:solidFill><a:srgbClr val="3B82F6"/></a:solidFill></p:spPr>
        <p:txBody><a:bodyPr rtlCol="0"/><a:lstStyle/><a:p><a:r><a:rPr lang="en-US" sz="2800" b="1"><a:solidFill><a:srgbClr val="FFFFFF"/></a:solidFill></a:rPr><a:t>Local Results: Data Scaling</a:t></a:r></a:p></p:txBody>
      </p:sp>
      
      <!-- Left column -->
      <p:sp><p:nvSpPr><p:cNvPr id="3" name="Left"/><p:cNvSpPr txBody="1"/><p:nvPr/></p:nvSpPr>
        <p:spPr><a:xfrm><a:off x="274638" y="914400"/><a:ext cx="4114800" cy="5486400"/></a:xfrm></p:spPr>
        <p:txBody><a:bodyPr rtlCol="0"/><a:lstStyle/><a:p><a:r><a:rPr lang="en-US" sz="1400" b="1"><a:solidFill><a:srgbClr val="22C55E"/></a:solidFill></a:rPr><a:t>Pilot & Main</a:t></a:r></a:p><a:p><a:r><a:rPr lang="en-US" sz="1000"><a:solidFill><a:srgbClr val="FFFFFF"/></a:solidFill></a:rPr><a:t>• 10k: 1.45 BLEU-4</a:t></a:r></a:p><a:p><a:r><a:rPr lang="en-US" sz="1000"><a:solidFill><a:srgbClr val="FFFFFF"/></a:solidFill></a:rPr><a:t>• 50k: 11.13 BLEU-4 ✓</a:t></a:r></a:p><a:p><a:r><a:rPr lang="en-US" sz="1000"><a:solidFill><a:srgbClr val="FFFFFF"/></a:solidFill></a:rPr><a:t>• 50k Polish: 10.49</a:t></a:r></a:p><a:p><a:r><a:rPr lang="en-US" sz="1000"><a:solidFill><a:srgbClr val="FFFFFF"/></a:solidFill></a:rPr><a:t>• 50k diversity: 563 captions</a:t></a:r></a:p></p:txBody>
      </p:sp>
      
      <!-- Right column -->
      <p:sp><p:nvSpPr><p:cNvPr id="4" name="Right"/><p:cNvSpPr txBody="1"/><p:nvPr/></p:nvSpPr>
        <p:spPr><a:xfrm><a:off x="4754562" y="914400"/><a:ext cx="4114800" cy="5486400"/></a:xfrm></p:spPr>
        <p:txBody><a:bodyPr rtlCol="0"/><a:lstStyle/><a:p><a:r><a:rPr lang="en-US" sz="1400" b="1"><a:solidFill><a:srgbClr val="22C55E"/></a:solidFill></a:rPr><a:t>Long Run Analysis</a:t></a:r></a:p><a:p><a:r><a:rPr lang="en-US" sz="1000"><a:solidFill><a:srgbClr val="FFFFFF"/></a:solidFill></a:rPr><a:t>• 100k: 8.57 BLEU-4 (e2)</a:t></a:r></a:p><a:p><a:r><a:rPr lang="en-US" sz="1000"><a:solidFill><a:srgbClr val="FFFFFF"/></a:solidFill></a:rPr><a:t>• 100k (final): 6.61 (e14)</a:t></a:r></a:p><a:p><a:r><a:rPr lang="en-US" sz="1000"><a:solidFill><a:srgbClr val="FFFFFF"/></a:solidFill></a:rPr><a:t>• Peak-early phenomenon</a:t></a:r></a:p><a:p><a:r><a:rPr lang="en-US" sz="1000"><a:solidFill><a:srgbClr val="FFFFFF"/></a:solidFill></a:rPr><a:t>• Diversity: 734 captions</a:t></a:r></a:p>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4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Performance Gap: Breakdown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Gap Components</a:t>
            </a:r>
          </a:p>
          <a:p>
            <a:r>
              <a:rPr lang="en-US" sz="1000">
                <a:solidFill>
                  <a:srgbClr val="FFFFFF"/>
                </a:solidFill>
              </a:rPr>
              <a:t>• Backbone (ViT-g→ViT-L): 3-4×</a:t>
            </a:r>
          </a:p>
          <a:p>
            <a:r>
              <a:rPr lang="en-US" sz="1000">
                <a:solidFill>
                  <a:srgbClr val="FFFFFF"/>
                </a:solidFill>
              </a:rPr>
              <a:t>• LLM (OPT-2.7B→OPT-350M): 8×</a:t>
            </a:r>
          </a:p>
          <a:p>
            <a:r>
              <a:rPr lang="en-US" sz="1000">
                <a:solidFill>
                  <a:srgbClr val="FFFFFF"/>
                </a:solidFill>
              </a:rPr>
              <a:t>• Pre-training data: 129M→0</a:t>
            </a:r>
          </a:p>
          <a:p>
            <a:r>
              <a:rPr lang="en-US" sz="1000">
                <a:solidFill>
                  <a:srgbClr val="FFFFFF"/>
                </a:solidFill>
              </a:rPr>
              <a:t>• Resolution: 364→224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Gap Analysis</a:t>
            </a:r>
          </a:p>
          <a:p>
            <a:r>
              <a:rPr lang="en-US" sz="1000">
                <a:solidFill>
                  <a:srgbClr val="FFFFFF"/>
                </a:solidFill>
              </a:rPr>
              <a:t>• Multiplicative effect: ~25-30×</a:t>
            </a:r>
          </a:p>
          <a:p>
            <a:r>
              <a:rPr lang="en-US" sz="1000">
                <a:solidFill>
                  <a:srgbClr val="FFFFFF"/>
                </a:solidFill>
              </a:rPr>
              <a:t>• NOT pipeline failure</a:t>
            </a:r>
          </a:p>
          <a:p>
            <a:r>
              <a:rPr lang="en-US" sz="1000">
                <a:solidFill>
                  <a:srgbClr val="FFFFFF"/>
                </a:solidFill>
              </a:rPr>
              <a:t>• Scale-driven, not archit.</a:t>
            </a:r>
          </a:p>
          <a:p>
            <a:r>
              <a:rPr lang="en-US" sz="1000">
                <a:solidFill>
                  <a:srgbClr val="FFFFFF"/>
                </a:solidFill>
              </a:rPr>
              <a:t>• All components stable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5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100k Run: Peak-Early Phenomenon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Training Losses</a:t>
            </a:r>
          </a:p>
          <a:p>
            <a:r>
              <a:rPr lang="en-US" sz="1000">
                <a:solidFill>
                  <a:srgbClr val="FFFFFF"/>
                </a:solidFill>
              </a:rPr>
              <a:t>• Stage 1: 0.33</a:t>
            </a:r>
          </a:p>
          <a:p>
            <a:r>
              <a:rPr lang="en-US" sz="1000">
                <a:solidFill>
                  <a:srgbClr val="FFFFFF"/>
                </a:solidFill>
              </a:rPr>
              <a:t>• Stage 2: 0.36</a:t>
            </a:r>
          </a:p>
          <a:p>
            <a:r>
              <a:rPr lang="en-US" sz="1000">
                <a:solidFill>
                  <a:srgbClr val="FFFFFF"/>
                </a:solidFill>
              </a:rPr>
              <a:t>• Caption loss: steady ↓</a:t>
            </a:r>
          </a:p>
          <a:p>
            <a:r>
              <a:rPr lang="en-US" sz="1000">
                <a:solidFill>
                  <a:srgbClr val="FFFFFF"/>
                </a:solidFill>
              </a:rPr>
              <a:t>• No divergence → stable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Caption Metrics</a:t>
            </a:r>
          </a:p>
          <a:p>
            <a:r>
              <a:rPr lang="en-US" sz="1000">
                <a:solidFill>
                  <a:srgbClr val="FFFFFF"/>
                </a:solidFill>
              </a:rPr>
              <a:t>• Epoch 2 (best): 8.57 BLEU</a:t>
            </a:r>
          </a:p>
          <a:p>
            <a:r>
              <a:rPr lang="en-US" sz="1000">
                <a:solidFill>
                  <a:srgbClr val="FFFFFF"/>
                </a:solidFill>
              </a:rPr>
              <a:t>• Epoch 14 (final): 6.61</a:t>
            </a:r>
          </a:p>
          <a:p>
            <a:r>
              <a:rPr lang="en-US" sz="1000">
                <a:solidFill>
                  <a:srgbClr val="FFFFFF"/>
                </a:solidFill>
              </a:rPr>
              <a:t>• Degradation: -23%</a:t>
            </a:r>
          </a:p>
          <a:p>
            <a:r>
              <a:rPr lang="en-US" sz="1000">
                <a:solidFill>
                  <a:srgbClr val="FFFFFF"/>
                </a:solidFill>
              </a:rPr>
              <a:t>• Overfitting w/o early stop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6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Reproducibility: Pipeline vs Performance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Pipeline Status</a:t>
            </a:r>
          </a:p>
          <a:p>
            <a:r>
              <a:rPr lang="en-US" sz="1000">
                <a:solidFill>
                  <a:srgbClr val="FFFFFF"/>
                </a:solidFill>
              </a:rPr>
              <a:t>✓ All 3 stages complete</a:t>
            </a:r>
          </a:p>
          <a:p>
            <a:r>
              <a:rPr lang="en-US" sz="1000">
                <a:solidFill>
                  <a:srgbClr val="FFFFFF"/>
                </a:solidFill>
              </a:rPr>
              <a:t>✓ End-to-end on RTX 3070</a:t>
            </a:r>
          </a:p>
          <a:p>
            <a:r>
              <a:rPr lang="en-US" sz="1000">
                <a:solidFill>
                  <a:srgbClr val="FFFFFF"/>
                </a:solidFill>
              </a:rPr>
              <a:t>✓ Stable gradients</a:t>
            </a:r>
          </a:p>
          <a:p>
            <a:r>
              <a:rPr lang="en-US" sz="1000">
                <a:solidFill>
                  <a:srgbClr val="FFFFFF"/>
                </a:solidFill>
              </a:rPr>
              <a:t>✓ Output predictions valid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Performance Status</a:t>
            </a:r>
          </a:p>
          <a:p>
            <a:r>
              <a:rPr lang="en-US" sz="1000">
                <a:solidFill>
                  <a:srgbClr val="FFFFFF"/>
                </a:solidFill>
              </a:rPr>
              <a:t>✗ 25-30× gap to paper</a:t>
            </a:r>
          </a:p>
          <a:p>
            <a:r>
              <a:rPr lang="en-US" sz="1000">
                <a:solidFill>
                  <a:srgbClr val="FFFFFF"/>
                </a:solidFill>
              </a:rPr>
              <a:t>⟹ Gap is systematic</a:t>
            </a:r>
          </a:p>
          <a:p>
            <a:r>
              <a:rPr lang="en-US" sz="1000">
                <a:solidFill>
                  <a:srgbClr val="FFFFFF"/>
                </a:solidFill>
              </a:rPr>
              <a:t>⟹ NOT impl failure</a:t>
            </a:r>
          </a:p>
          <a:p>
            <a:r>
              <a:rPr lang="en-US" sz="1000">
                <a:solidFill>
                  <a:srgbClr val="FFFFFF"/>
                </a:solidFill>
              </a:rPr>
              <a:t>✓ Architecture sound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7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Why BLIP-2 Was Best Choice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Architectural Fit</a:t>
            </a:r>
          </a:p>
          <a:p>
            <a:r>
              <a:rPr lang="en-US" sz="1000">
                <a:solidFill>
                  <a:srgbClr val="FFFFFF"/>
                </a:solidFill>
              </a:rPr>
              <a:t>• Modular Q-Former bridge</a:t>
            </a:r>
          </a:p>
          <a:p>
            <a:r>
              <a:rPr lang="en-US" sz="1000">
                <a:solidFill>
                  <a:srgbClr val="FFFFFF"/>
                </a:solidFill>
              </a:rPr>
              <a:t>• Frozen backbones downscalable</a:t>
            </a:r>
          </a:p>
          <a:p>
            <a:r>
              <a:rPr lang="en-US" sz="1000">
                <a:solidFill>
                  <a:srgbClr val="FFFFFF"/>
                </a:solidFill>
              </a:rPr>
              <a:t>• Clear reduction path</a:t>
            </a:r>
          </a:p>
          <a:p>
            <a:r>
              <a:rPr lang="en-US" sz="1000">
                <a:solidFill>
                  <a:srgbClr val="FFFFFF"/>
                </a:solidFill>
              </a:rPr>
              <a:t>• Scientific coherence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Practical Advantages</a:t>
            </a:r>
          </a:p>
          <a:p>
            <a:r>
              <a:rPr lang="en-US" sz="1000">
                <a:solidFill>
                  <a:srgbClr val="FFFFFF"/>
                </a:solidFill>
              </a:rPr>
              <a:t>• Official LAVIS code available</a:t>
            </a:r>
          </a:p>
          <a:p>
            <a:r>
              <a:rPr lang="en-US" sz="1000">
                <a:solidFill>
                  <a:srgbClr val="FFFFFF"/>
                </a:solidFill>
              </a:rPr>
              <a:t>• Well-documented pipeline</a:t>
            </a:r>
          </a:p>
          <a:p>
            <a:r>
              <a:rPr lang="en-US" sz="1000">
                <a:solidFill>
                  <a:srgbClr val="FFFFFF"/>
                </a:solidFill>
              </a:rPr>
              <a:t>• No synthetic data needed</a:t>
            </a:r>
          </a:p>
          <a:p>
            <a:r>
              <a:rPr lang="en-US" sz="1000">
                <a:solidFill>
                  <a:srgbClr val="FFFFFF"/>
                </a:solidFill>
              </a:rPr>
              <a:t>• Tractable complexity</a:t>
            </a:r>
          </a:p>
        </p:txBody>
      </p:sp>
    </p:spTree>
  </p:cSld>
</p:sld>
</file>

<file path=ppt/slides/slide8.xml><?xml version="1.0" encoding="UTF-8" standalone="yes"?>
<p:sld xmlns:p="http://schemas.openxmlformats.org/presentationml/2006/main" xmlns:a="http://schemas.openxmlformats.org/drawingml/2006/main">
  <p:cSld>
    <p:bg><p:bgPr><a:solidFill><a:srgbClr val="0F1729"/></a:solidFill><a:effectLst/></p:bgPr></p:bg>
    <p:spTree>
      <p:nvGrpSpPr><p:cNvPr id="1" name="Slide 8"/><p:cNvGrpSpPr/><p:nvPr/></p:nvGrpSpPr>
      <p:grpSpPr><a:xfrm><a:off x="0" y="0"/><a:ext cx="9144000" cy="6858000"/><a:chOff x="0" y="0"/><a:chExt cx="9144000" cy="6858000"/></a:xfrm></p:grpSpPr>
      
      <!-- Title bar -->
      <p:sp><p:nvSpPr><p:cNvPr id="2" name="Title"/><p:cNvSpPr txBody="1"/><p:nvPr/></p:nvSpPr>
        <p:spPr><a:xfrm><a:off x="0" y="0"/><a:ext cx="9144000" cy="685800"/></a:xfrm><a:prstGeom prst="rect"><a:avLst/></a:prstGeom><a:solidFill><a:srgbClr val="3B82F6"/></a:solidFill></p:spPr>
        <p:txBody><a:bodyPr rtlCol="0"/><a:lstStyle/><a:p><a:r><a:rPr lang="en-US" sz="2800" b="1"><a:solidFill><a:srgbClr val="FFFFFF"/></a:solidFill></a:rPr><a:t>Study Limitations & Caveats</a:t></a:r></a:p></p:txBody>
      </p:sp>
      
      <!-- Left column -->
      <p:sp><p:nvSpPr><p:cNvPr id="3" name="Left"/><p:cNvSpPr txBody="1"/><p:nvPr/></p:nvSpPr>
        <p:spPr><a:xfrm><a:off x="274638" y="914400"/><a:ext cx="4114800" cy="5486400"/></a:xfrm></p:spPr>
        <p:txBody><a:bodyPr rtlCol="0"/><a:lstStyle/><a:p><a:r><a:rPr lang="en-US" sz="1400" b="1"><a:solidFill><a:srgbClr val="22C55E"/></a:solidFill></a:rPr><a:t>Evaluation Scope</a:t></a:r></a:p><a:p><a:r><a:rPr lang="en-US" sz="1000"><a:solidFill><a:srgbClr val="FFFFFF"/></a:solidFill></a:rPr><a:t>• Local: 1k val/test</a:t></a:r></a:p><a:p><a:r><a:rPr lang="en-US" sz="1000"><a:solidFill><a:srgbClr val="FFFFFF"/></a:solidFill></a:rPr><a:t>• Paper: Full Karpathy split</a:t></a:r></a:p><a:p><a:r><a:rPr lang="en-US" sz="1000"><a:solidFill><a:srgbClr val="FFFFFF"/></a:solidFill></a:rPr><a:t>• Internal comparability: ✓</a:t></a:r></a:p><a:p><a:r><a:rPr lang="en-US" sz="1000"><a:solidFill><a:srgbClr val="FFFFFF"/></a:solidFill></a:rPr><a:t>• Leaderboard equiv.: ✗</a:t></a:r></a:p></p:txBody>
      </p:sp>
      
      <!-- Right column -->
      <p:sp><p:nvSpPr><p:cNvPr id="4" name="Right"/><p:cNvSpPr txBody="1"/><p:nvPr/></p:nvSpPr>
        <p:spPr><a:xfrm><a:off x="4754562" y="914400"/><a:ext cx="4114800" cy="5486400"/></a:xfrm></p:spPr>
        <p:txBody><a:bodyPr rtlCol="0"/><a:lstStyle/><a:p><a:r><a:rPr lang="en-US" sz="1400" b="1"><a:solidFill><a:srgbClr val="22C55E"/></a:solidFill></a:rPr><a:t>Study Design</a:t></a:r></a:p><a:p><a:r><a:rPr lang="en-US" sz="1000"><a:solidFill><a:srgbClr val="FFFFFF"/></a:solidFill></a:rPr><a:t>• Single-seed runs (no CI)</a:t></a:r></a:p><a:p><a:r><a:rPr lang="en-US" sz="1000"><a:solidFill><a:srgbClr val="FFFFFF"/></a:solidFill></a:rPr><a:t>• Student-scale downscaling</a:t></a:r></a:p><a:p><a:r><a:rPr lang="en-US" sz="1000"><a:solidFill><a:srgbClr val="FFFFFF"/></a:solidFill></a:rPr><a:t>• Windows portability tested</a:t></a:r></a:p><a:p><a:r><a:rPr lang="en-US" sz="1000"><a:solidFill><a:srgbClr val="FFFFFF"/></a:solidFill></a:rPr><a:t>• Real data only</a:t></a:r></a:p></p:txBody>
      </p:sp>
    </p:spTree>
  </p:cSld>
</p:sld>
</file>

<file path=ppt/slides/slide9.xml><?xml version="1.0" encoding="UTF-8" standalone="yes"?>
<p:sld xmlns:p="http://schemas.openxmlformats.org/presentationml/2006/main" xmlns:a="http://schemas.openxmlformats.org/drawingml/2006/main">
  <p:cSld>
    <p:bg><p:bgPr><a:solidFill><a:srgbClr val="0F1729"/></a:solidFill><a:effectLst/></p:bgPr></p:bg>
    <p:spTree>
      <p:nvGrpSpPr><p:cNvPr id="1" name="Slide 9"/><p:cNvGrpSpPr/><p:nvPr/></p:nvGrpSpPr>
      <p:grpSpPr><a:xfrm><a:off x="0" y="0"/><a:ext cx="9144000" cy="6858000"/><a:chOff x="0" y="0"/><a:chExt cx="9144000" cy="6858000"/></a:xfrm></p:grpSpPr>
      
      <!-- Title bar -->
      <p:sp><p:nvSpPr><p:cNvPr id="2" name="Title"/><p:cNvSpPr txBody="1"/><p:nvPr/></p:nvSpPr>
        <p:spPr><a:xfrm><a:off x="0" y="0"/><a:ext cx="9144000" cy="685800"/></a:xfrm><a:prstGeom prst="rect"><a:avLst/></a:prstGeom><a:solidFill><a:srgbClr val="3B82F6"/></a:solidFill></p:spPr>
        <p:txBody><a:bodyPr rtlCol="0"/><a:lstStyle/><a:p><a:r><a:rPr lang="en-US" sz="2800" b="1"><a:solidFill><a:srgbClr val="FFFFFF"/></a:solidFill></a:rPr><a:t>Reproducibility Artifacts Trail</a:t></a:r></a:p></p:txBody>
      </p:sp>
      
      <!-- Left column -->
      <p:sp><p:nvSpPr><p:cNvPr id="3" name="Left"/><p:cNvSpPr txBody="1"/><p:nvPr/></p:nvSpPr>
        <p:spPr><a:xfrm><a:off x="274638" y="914400"/><a:ext cx="4114800" cy="5486400"/></a:xfrm></p:spPr>
        <p:txBody><a:bodyPr rtlCol="0"/><a:lstStyle/><a:p><a:r><a:rPr lang="en-US" sz="1400" b="1"><a:solidFill><a:srgbClr val="22C55E"/></a:solidFill></a:rPr><a:t>Checkpoint Registry</a:t></a:r></a:p><a:p><a:r><a:rPr lang="en-US" sz="1000"><a:solidFill><a:srgbClr val="FFFFFF"/></a:solidFill></a:rPr><a:t>• All runs: checkpoint_registry</a:t></a:r></a:p><a:p><a:r><a:rPr lang="en-US" sz="1000"><a:solidFill><a:srgbClr val="FFFFFF"/></a:solidFill></a:rPr><a:t>• Per-epoch metrics saved</a:t></a:r></a:p><a:p><a:r><a:rPr lang="en-US" sz="1000"><a:solidFill><a:srgbClr val="FFFFFF"/></a:solidFill></a:rPr><a:t>• Loss trajectories logged</a:t></a:r></a:p><a:p><a:r><a:rPr lang="en-US" sz="1000"><a:solidFill><a:srgbClr val="FFFFFF"/></a:solidFill></a:rPr><a:t>• Model selection justified</a:t></a:r></a:p></p:txBody>
      </p:sp>
      
      <!-- Right column -->
      <p:sp><p:nvSpPr><p:cNvPr id="4" name="Right"/><p:cNvSpPr txBody="1"/><p:nvPr/></p:nvSpPr>
        <p:spPr><a:xfrm><a:off x="4754562" y="914400"/><a:ext cx="4114800" cy="5486400"/></a:xfrm></p:spPr>
        <p:txBody><a:bodyPr rtlCol="0"/><a:lstStyle/><a:p><a:r><a:rPr lang="en-US" sz="1400" b="1"><a:solidFill><a:srgbClr val="22C55E"/></a:solidFill></a:rPr><a:t>Configuration & Proof</a:t></a:r></a:p><a:p><a:r><a:rPr lang="en-US" sz="1000"><a:solidFill><a:srgbClr val="FFFFFF"/></a:solidFill></a:rPr><a:t>• Stage config files .yaml</a:t></a:r></a:p><a:p><a:r><a:rPr lang="en-US" sz="1000"><a:solidFill><a:srgbClr val="FFFFFF"/></a:solidFill></a:rPr><a:t>• Hyperparams for 10k/50k/100k</a:t></a:r></a:p><a:p><a:r><a:rPr lang="en-US" sz="1000"><a:solidFill><a:srgbClr val="FFFFFF"/></a:solidFill></a:rPr><a:t>• Progress logs available</a:t></a:r></a:p><a:p><a:r><a:rPr lang="en-US" sz="1000"><a:solidFill><a:srgbClr val="FFFFFF"/></a:solidFill></a:rPr><a:t>• Traceability complete</a:t></a:r></a:p>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1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Technical Takeaways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Architecture</a:t>
            </a:r>
          </a:p>
          <a:p>
            <a:r>
              <a:rPr lang="en-US" sz="1000">
                <a:solidFill>
                  <a:srgbClr val="FFFFFF"/>
                </a:solidFill>
              </a:rPr>
              <a:t>• Backbone selection &gt; LLM size</a:t>
            </a:r>
          </a:p>
          <a:p>
            <a:r>
              <a:rPr lang="en-US" sz="1000">
                <a:solidFill>
                  <a:srgbClr val="FFFFFF"/>
                </a:solidFill>
              </a:rPr>
              <a:t>• Frozen design is genuinely</a:t>
            </a:r>
          </a:p>
          <a:p>
            <a:r>
              <a:rPr lang="en-US" sz="1000">
                <a:solidFill>
                  <a:srgbClr val="FFFFFF"/>
                </a:solidFill>
              </a:rPr>
              <a:t>  modular and downscalable</a:t>
            </a:r>
          </a:p>
          <a:p>
            <a:r>
              <a:rPr lang="en-US" sz="1000">
                <a:solidFill>
                  <a:srgbClr val="FFFFFF"/>
                </a:solidFill>
              </a:rPr>
              <a:t>• Q-Former works as intended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Optimization</a:t>
            </a:r>
          </a:p>
          <a:p>
            <a:r>
              <a:rPr lang="en-US" sz="1000">
                <a:solidFill>
                  <a:srgbClr val="FFFFFF"/>
                </a:solidFill>
              </a:rPr>
              <a:t>• Checkpoint selection &gt; train time</a:t>
            </a:r>
          </a:p>
          <a:p>
            <a:r>
              <a:rPr lang="en-US" sz="1000">
                <a:solidFill>
                  <a:srgbClr val="FFFFFF"/>
                </a:solidFill>
              </a:rPr>
              <a:t>• Validation-driven needed</a:t>
            </a:r>
          </a:p>
          <a:p>
            <a:r>
              <a:rPr lang="en-US" sz="1000">
                <a:solidFill>
                  <a:srgbClr val="FFFFFF"/>
                </a:solidFill>
              </a:rPr>
              <a:t>• Early stopping is critical</a:t>
            </a:r>
          </a:p>
          <a:p>
            <a:r>
              <a:rPr lang="en-US" sz="1000">
                <a:solidFill>
                  <a:srgbClr val="FFFFFF"/>
                </a:solidFill>
              </a:rPr>
              <a:t>• 100k run proved limits</a:t>
            </a:r>
          </a:p>
        </p:txBody>
      </p:sp>
    </p:spTree>
  </p:cSld>
</p:sld>
</file>

<file path=ppt/slides/slide11.xml><?xml version="1.0" encoding="UTF-8" standalone="yes"?>
<p:sld xmlns:p="http://schemas.openxmlformats.org/presentationml/2006/main" xmlns:a="http://schemas.openxmlformats.org/drawingml/2006/main">
  <p:cSld>
    <p:bg><p:bgPr><a:solidFill><a:srgbClr val="0F1729"/></a:solidFill><a:effectLst/></p:bgPr></p:bg>
    <p:spTree>
      <p:nvGrpSpPr><p:cNvPr id="1" name="Slide 11"/><p:cNvGrpSpPr/><p:nvPr/></p:nvGrpSpPr>
      <p:grpSpPr><a:xfrm><a:off x="0" y="0"/><a:ext cx="9144000" cy="6858000"/><a:chOff x="0" y="0"/><a:chExt cx="9144000" cy="6858000"/></a:xfrm></p:grpSpPr>
      
      <!-- Title bar -->
      <p:sp><p:nvSpPr><p:cNvPr id="2" name="Title"/><p:cNvSpPr txBody="1"/><p:nvPr/></p:nvSpPr>
        <p:spPr><a:xfrm><a:off x="0" y="0"/><a:ext cx="9144000" cy="685800"/></a:xfrm><a:prstGeom prst="rect"><a:avLst/></a:prstGeom><a:solidFill><a:srgbClr val="3B82F6"/></a:solidFill></p:spPr>
        <p:txBody><a:bodyPr rtlCol="0"/><a:lstStyle/><a:p><a:r><a:rPr lang="en-US" sz="2800" b="1"><a:solidFill><a:srgbClr val="FFFFFF"/></a:solidFill></a:rPr><a:t>For Practitioners & Researchers</a:t></a:r></a:p></p:txBody>
      </p:sp>
      
      <!-- Left column -->
      <p:sp><p:nvSpPr><p:cNvPr id="3" name="Left"/><p:cNvSpPr txBody="1"/><p:nvPr/></p:nvSpPr>
        <p:spPr><a:xfrm><a:off x="274638" y="914400"/><a:ext cx="4114800" cy="5486400"/></a:xfrm></p:spPr>
        <p:txBody><a:bodyPr rtlCol="0"/><a:lstStyle/><a:p><a:r><a:rPr lang="en-US" sz="1400" b="1"><a:solidFill><a:srgbClr val="22C55E"/></a:solidFill></a:rPr><a:t>Building Locally</a:t></a:r></a:p><a:p><a:r><a:rPr lang="en-US" sz="1000"><a:solidFill><a:srgbClr val="FFFFFF"/></a:solidFill></a:rPr><a:t>1. Choose modular arch</a:t></a:r></a:p><a:p><a:r><a:rPr lang="en-US" sz="1000"><a:solidFill><a:srgbClr val="FFFFFF"/></a:solidFill></a:rPr><a:t>2. Invest in backbone</a:t></a:r></a:p><a:p><a:r><a:rPr lang="en-US" sz="1000"><a:solidFill><a:srgbClr val="FFFFFF"/></a:solidFill></a:rPr><a:t>3. Use metric-driven selection</a:t></a:r></a:p><a:p><a:r><a:rPr lang="en-US" sz="1000"><a:solidFill><a:srgbClr val="FFFFFF"/></a:solidFill></a:rPr><a:t>4. Validate every checkpoint</a:t></a:r></a:p></p:txBody>
      </p:sp>
      
      <!-- Right column -->
      <p:sp><p:nvSpPr><p:cNvPr id="4" name="Right"/><p:cNvSpPr txBody="1"/><p:nvPr/></p:nvSpPr>
        <p:spPr><a:xfrm><a:off x="4754562" y="914400"/><a:ext cx="4114800" cy="5486400"/></a:xfrm></p:spPr>
        <p:txBody><a:bodyPr rtlCol="0"/><a:lstStyle/><a:p><a:r><a:rPr lang="en-US" sz="1400" b="1"><a:solidFill><a:srgbClr val="22C55E"/></a:solidFill></a:rPr><a:t>Future Research</a:t></a:r></a:p><a:p><a:r><a:rPr lang="en-US" sz="1000"><a:solidFill><a:srgbClr val="FFFFFF"/></a:solidFill></a:rPr><a:t>1. Systematic backbone scaling</a:t></a:r></a:p><a:p><a:r><a:rPr lang="en-US" sz="1000"><a:solidFill><a:srgbClr val="FFFFFF"/></a:solidFill></a:rPr><a:t>2. Data augmentation strategies</a:t></a:r></a:p><a:p><a:r><a:rPr lang="en-US" sz="1000"><a:solidFill><a:srgbClr val="FFFFFF"/></a:solidFill></a:rPr><a:t>3. Regularization tuning</a:t></a:r></a:p><a:p><a:r><a:rPr lang="en-US" sz="1000"><a:solidFill><a:srgbClr val="FFFFFF"/></a:solidFill></a:rPr><a:t>4. Efficient models (MobileViT)</a:t></a:r></a:p>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12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Main Conclusions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Pipeline Reproducibility</a:t>
            </a:r>
          </a:p>
          <a:p>
            <a:r>
              <a:rPr lang="en-US" sz="1000">
                <a:solidFill>
                  <a:srgbClr val="FFFFFF"/>
                </a:solidFill>
              </a:rPr>
              <a:t>✓ BLIP-2 pipeline IS reproducible</a:t>
            </a:r>
          </a:p>
          <a:p>
            <a:r>
              <a:rPr lang="en-US" sz="1000">
                <a:solidFill>
                  <a:srgbClr val="FFFFFF"/>
                </a:solidFill>
              </a:rPr>
              <a:t>  on consumer GPU</a:t>
            </a:r>
          </a:p>
          <a:p>
            <a:r>
              <a:rPr lang="en-US" sz="1000">
                <a:solidFill>
                  <a:srgbClr val="FFFFFF"/>
                </a:solidFill>
              </a:rPr>
              <a:t>✓ All 3 stages run end-to-end</a:t>
            </a:r>
          </a:p>
          <a:p>
            <a:r>
              <a:rPr lang="en-US" sz="1000">
                <a:solidFill>
                  <a:srgbClr val="FFFFFF"/>
                </a:solidFill>
              </a:rPr>
              <a:t>✓ Official code works locally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Performance Reproducibility</a:t>
            </a:r>
          </a:p>
          <a:p>
            <a:r>
              <a:rPr lang="en-US" sz="1000">
                <a:solidFill>
                  <a:srgbClr val="FFFFFF"/>
                </a:solidFill>
              </a:rPr>
              <a:t>✗ Local performance NOT matched</a:t>
            </a:r>
          </a:p>
          <a:p>
            <a:r>
              <a:rPr lang="en-US" sz="1000">
                <a:solidFill>
                  <a:srgbClr val="FFFFFF"/>
                </a:solidFill>
              </a:rPr>
              <a:t>⟹ Gap is SYSTEMATIC</a:t>
            </a:r>
          </a:p>
          <a:p>
            <a:r>
              <a:rPr lang="en-US" sz="1000">
                <a:solidFill>
                  <a:srgbClr val="FFFFFF"/>
                </a:solidFill>
              </a:rPr>
              <a:t>  (backbones, data, compute)</a:t>
            </a:r>
          </a:p>
          <a:p>
            <a:r>
              <a:rPr lang="en-US" sz="1000">
                <a:solidFill>
                  <a:srgbClr val="FFFFFF"/>
                </a:solidFill>
              </a:rPr>
              <a:t>⟹ NOT pipeline bug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F1729"/>
        </a:solidFill>
        <a:effectLst/>
      </p:bgPr>
    </p:bg>
    <p:spTree>
      <p:nvGrpSpPr>
        <p:cNvPr id="1" name="Slide 13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Title bar -->
      <p:sp>
        <p:nvSpPr>
          <p:cNvPr id="2" name="Title"/>
          <p:cNvSpPr txBody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</p:spPr>
        <p:txBody>
          <a:bodyPr rtlCol="0"/>
          <a:lstStyle/>
          <a:p>
            <a:r>
              <a:rPr lang="en-US" sz="2800" b="1">
                <a:solidFill>
                  <a:srgbClr val="FFFFFF"/>
                </a:solidFill>
              </a:rPr>
              <a:t>Key Research Insight</a:t>
            </a:r>
          </a:p>
        </p:txBody>
      </p:sp>
      <!-- Left column -->
      <p:sp>
        <p:nvSpPr>
          <p:cNvPr id="3" name="Left"/>
          <p:cNvSpPr txBody="1"/>
          <p:nvPr/>
        </p:nvSpPr>
        <p:spPr>
          <a:xfrm>
            <a:off x="274638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Multimodal ML Lesson</a:t>
            </a:r>
          </a:p>
          <a:p>
            <a:r>
              <a:rPr lang="en-US" sz="1000">
                <a:solidFill>
                  <a:srgbClr val="FFFFFF"/>
                </a:solidFill>
              </a:rPr>
              <a:t>• Literature conflates</a:t>
            </a:r>
          </a:p>
          <a:p>
            <a:r>
              <a:rPr lang="en-US" sz="1000">
                <a:solidFill>
                  <a:srgbClr val="FFFFFF"/>
                </a:solidFill>
              </a:rPr>
              <a:t>  architecture + scale</a:t>
            </a:r>
          </a:p>
          <a:p>
            <a:r>
              <a:rPr lang="en-US" sz="1000">
                <a:solidFill>
                  <a:srgbClr val="FFFFFF"/>
                </a:solidFill>
              </a:rPr>
              <a:t>• This study: BLIP-2 arch</a:t>
            </a:r>
          </a:p>
          <a:p>
            <a:r>
              <a:rPr lang="en-US" sz="1000">
                <a:solidFill>
                  <a:srgbClr val="FFFFFF"/>
                </a:solidFill>
              </a:rPr>
              <a:t>  is sound; gap is scale</a:t>
            </a:r>
          </a:p>
        </p:txBody>
      </p:sp>
      <!-- Right column -->
      <p:sp>
        <p:nvSpPr>
          <p:cNvPr id="4" name="Right"/>
          <p:cNvSpPr txBody="1"/>
          <p:nvPr/>
        </p:nvSpPr>
        <p:spPr>
          <a:xfrm>
            <a:off x="4754562" y="914400"/>
            <a:ext cx="4114800" cy="5486400"/>
          </a:xfrm>
        </p:spPr>
        <p:txBody>
          <a:bodyPr rtlCol="0"/>
          <a:lstStyle/>
          <a:p>
            <a:r>
              <a:rPr lang="en-US" sz="1400" b="1">
                <a:solidFill>
                  <a:srgbClr val="22C55E"/>
                </a:solidFill>
              </a:rPr>
              <a:t>Reproducibility Lesson</a:t>
            </a:r>
          </a:p>
          <a:p>
            <a:r>
              <a:rPr lang="en-US" sz="1000">
                <a:solidFill>
                  <a:srgbClr val="FFFFFF"/>
                </a:solidFill>
              </a:rPr>
              <a:t>• Pipeline repr. ≠ perf. repr.</a:t>
            </a:r>
          </a:p>
          <a:p>
            <a:r>
              <a:rPr lang="en-US" sz="1000">
                <a:solidFill>
                  <a:srgbClr val="FFFFFF"/>
                </a:solidFill>
              </a:rPr>
              <a:t>• Important distinction!</a:t>
            </a:r>
          </a:p>
          <a:p>
            <a:r>
              <a:rPr lang="en-US" sz="1000">
                <a:solidFill>
                  <a:srgbClr val="FFFFFF"/>
                </a:solidFill>
              </a:rPr>
              <a:t>• Local needs tuning</a:t>
            </a:r>
          </a:p>
          <a:p>
            <a:r>
              <a:rPr lang="en-US" sz="1000">
                <a:solidFill>
                  <a:srgbClr val="FFFFFF"/>
                </a:solidFill>
              </a:rPr>
              <a:t>• Scale compounds</a:t>
            </a:r>
          </a:p>
        </p:txBody>
      </p:sp>
    </p:spTree>
  </p:cSld>
</p:sld>
</file>

<file path=ppt/slides/slide14.xml><?xml version="1.0" encoding="UTF-8" standalone="yes"?>
<p:sld xmlns:p="http://schemas.openxmlformats.org/presentationml/2006/main" xmlns:a="http://schemas.openxmlformats.org/drawingml/2006/main">
  <p:cSld>
    <p:bg><p:bgPr><a:solidFill><a:srgbClr val="0F1729"/></a:solidFill><a:effectLst/></p:bgPr></p:bg>
    <p:spTree>
      <p:nvGrpSpPr><p:cNvPr id="1" name="Slide 14"/><p:cNvGrpSpPr/><p:nvPr/></p:nvGrpSpPr>
      <p:grpSpPr><a:xfrm><a:off x="0" y="0"/><a:ext cx="9144000" cy="6858000"/><a:chOff x="0" y="0"/><a:chExt cx="9144000" cy="6858000"/></a:xfrm></p:grpSpPr>
      
      <!-- Title bar -->
      <p:sp><p:nvSpPr><p:cNvPr id="2" name="Title"/><p:cNvSpPr txBody="1"/><p:nvPr/></p:nvSpPr>
        <p:spPr><a:xfrm><a:off x="0" y="0"/><a:ext cx="9144000" cy="685800"/></a:xfrm><a:prstGeom prst="rect"><a:avLst/></a:prstGeom><a:solidFill><a:srgbClr val="3B82F6"/></a:solidFill></p:spPr>
        <p:txBody><a:bodyPr rtlCol="0"/><a:lstStyle/><a:p><a:r><a:rPr lang="en-US" sz="2800" b="1"><a:solidFill><a:srgbClr val="FFFFFF"/></a:solidFill></a:rPr><a:t>Summary & Impact</a:t></a:r></a:p></p:txBody>
      </p:sp>
      
      <!-- Left column -->
      <p:sp><p:nvSpPr><p:cNvPr id="3" name="Left"/><p:cNvSpPr txBody="1"/><p:nvPr/></p:nvSpPr>
        <p:spPr><a:xfrm><a:off x="274638" y="914400"/><a:ext cx="4114800" cy="5486400"/></a:xfrm></p:spPr>
        <p:txBody><a:bodyPr rtlCol="0"/><a:lstStyle/><a:p><a:r><a:rPr lang="en-US" sz="1400" b="1"><a:solidFill><a:srgbClr val="22C55E"/></a:solidFill></a:rPr><a:t>What We Showed</a:t></a:r></a:p><a:p><a:r><a:rPr lang="en-US" sz="1000"><a:solidFill><a:srgbClr val="FFFFFF"/></a:solidFill></a:rPr><a:t>• Compared 3 MLLM papers</a:t></a:r></a:p><a:p><a:r><a:rPr lang="en-US" sz="1000"><a:solidFill><a:srgbClr val="FFFFFF"/></a:solidFill></a:rPr><a:t>• Selected best for local work</a:t></a:r></a:p><a:p><a:r><a:rPr lang="en-US" sz="1000"><a:solidFill><a:srgbClr val="FFFFFF"/></a:solidFill></a:rPr><a:t>• Full repro on RTX 3070</a:t></a:r></a:p><a:p><a:r><a:rPr lang="en-US" sz="1000"><a:solidFill><a:srgbClr val="FFFFFF"/></a:solidFill></a:rPr><a:t>• Systematic gap analysis</a:t></a:r></a:p></p:txBody>
      </p:sp>
      
      <!-- Right column -->
      <p:sp><p:nvSpPr><p:cNvPr id="4" name="Right"/><p:cNvSpPr txBody="1"/><p:nvPr/></p:nvSpPr>
        <p:spPr><a:xfrm><a:off x="4754562" y="914400"/><a:ext cx="4114800" cy="5486400"/></a:xfrm></p:spPr>
        <p:txBody><a:bodyPr rtlCol="0"/><a:lstStyle/><a:p><a:r><a:rPr lang="en-US" sz="1400" b="1"><a:solidFill><a:srgbClr val="22C55E"/></a:solidFill></a:rPr><a:t>Why It Matters</a:t></a:r></a:p><a:p><a:r><a:rPr lang="en-US" sz="1000"><a:solidFill><a:srgbClr val="FFFFFF"/></a:solidFill></a:rPr><a:t>• Shows feasibility path</a:t></a:r></a:p><a:p><a:r><a:rPr lang="en-US" sz="1000"><a:solidFill><a:srgbClr val="FFFFFF"/></a:solidFill></a:rPr><a:t>• BLIP-2 is best commodity</a:t></a:r></a:p><a:p><a:r><a:rPr lang="en-US" sz="1000"><a:solidFill><a:srgbClr val="FFFFFF"/></a:solidFill></a:rPr><a:t>  reproduction target</a:t></a:r></a:p><a:p><a:r><a:rPr lang="en-US" sz="1000"><a:solidFill><a:srgbClr val="FFFFFF"/></a:solidFill></a:rPr><a:t>• Architecture over scale</a:t></a:r></a:p></p:txBody>
      </p:sp>
    </p:spTree>
  </p:cSld>
</p:sld>
</file>

<file path=ppt/theme/theme1.xml><?xml version="1.0" encoding="utf-8"?>
<a:theme xmlns:a="http://schemas.openxmlformats.org/drawingml/2006/main" name="Office Theme">
  <a:themeElements/>
</a:theme>
</file>

<file path=docProps/app.xml><?xml version="1.0" encoding="utf-8"?>
<Properties xmlns="http://schemas.openxmlformats.org/officeDocument/2006/extended-properties">
  <TotalTime>0</TotalTime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BLIP-2 Reproduction Analysis</dc:title>
  <dcterms:created>2026-04-16T20:44:37.640067</dcterms:created>
</cp:coreProperties>
</file>